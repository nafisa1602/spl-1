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A0F1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93143" y="1816103"/>
            <a:ext cx="153419" cy="5877563"/>
            <a:chOff x="0" y="0"/>
            <a:chExt cx="204559" cy="78367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70688" cy="7802881"/>
            </a:xfrm>
            <a:custGeom>
              <a:avLst/>
              <a:gdLst/>
              <a:ahLst/>
              <a:cxnLst/>
              <a:rect r="r" b="b" t="t" l="l"/>
              <a:pathLst>
                <a:path h="7802881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0A0F1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470" cy="7836662"/>
            </a:xfrm>
            <a:custGeom>
              <a:avLst/>
              <a:gdLst/>
              <a:ahLst/>
              <a:cxnLst/>
              <a:rect r="r" b="b" t="t" l="l"/>
              <a:pathLst>
                <a:path h="78366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7819772"/>
                  </a:lnTo>
                  <a:cubicBezTo>
                    <a:pt x="204470" y="7829169"/>
                    <a:pt x="196850" y="7836662"/>
                    <a:pt x="187579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87579" y="7802880"/>
                  </a:lnTo>
                  <a:lnTo>
                    <a:pt x="187579" y="7819772"/>
                  </a:lnTo>
                  <a:lnTo>
                    <a:pt x="170688" y="78197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6562" y="1816103"/>
            <a:ext cx="15544800" cy="2011680"/>
            <a:chOff x="0" y="0"/>
            <a:chExt cx="20726400" cy="2682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66" r="0" b="-1005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61925"/>
              <a:ext cx="20726400" cy="284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b="true" sz="80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DNS Threat Classification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3040" y="3931920"/>
            <a:ext cx="15544800" cy="1397347"/>
            <a:chOff x="0" y="0"/>
            <a:chExt cx="20726400" cy="18631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1863130"/>
            </a:xfrm>
            <a:custGeom>
              <a:avLst/>
              <a:gdLst/>
              <a:ahLst/>
              <a:cxnLst/>
              <a:rect r="r" b="b" t="t" l="l"/>
              <a:pathLst>
                <a:path h="186313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863130"/>
                  </a:lnTo>
                  <a:lnTo>
                    <a:pt x="0" y="18631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498" r="0" b="-15602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0726400" cy="1939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Implementing an LSTM Neural Network from Scratch in C++ to Detect Malicious DNS Queries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50343" y="5290823"/>
            <a:ext cx="11912603" cy="98555"/>
            <a:chOff x="0" y="0"/>
            <a:chExt cx="15883471" cy="1314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5849599" cy="97536"/>
            </a:xfrm>
            <a:custGeom>
              <a:avLst/>
              <a:gdLst/>
              <a:ahLst/>
              <a:cxnLst/>
              <a:rect r="r" b="b" t="t" l="l"/>
              <a:pathLst>
                <a:path h="97536" w="15849599">
                  <a:moveTo>
                    <a:pt x="0" y="0"/>
                  </a:moveTo>
                  <a:lnTo>
                    <a:pt x="15849599" y="0"/>
                  </a:lnTo>
                  <a:lnTo>
                    <a:pt x="158495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90AFC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883382" cy="131320"/>
            </a:xfrm>
            <a:custGeom>
              <a:avLst/>
              <a:gdLst/>
              <a:ahLst/>
              <a:cxnLst/>
              <a:rect r="r" b="b" t="t" l="l"/>
              <a:pathLst>
                <a:path h="131320" w="15883382">
                  <a:moveTo>
                    <a:pt x="16891" y="0"/>
                  </a:moveTo>
                  <a:lnTo>
                    <a:pt x="15866490" y="0"/>
                  </a:lnTo>
                  <a:cubicBezTo>
                    <a:pt x="15875890" y="0"/>
                    <a:pt x="15883382" y="7620"/>
                    <a:pt x="15883382" y="16891"/>
                  </a:cubicBezTo>
                  <a:lnTo>
                    <a:pt x="15883382" y="114427"/>
                  </a:lnTo>
                  <a:cubicBezTo>
                    <a:pt x="15883382" y="123825"/>
                    <a:pt x="15875763" y="131318"/>
                    <a:pt x="158664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5866490" y="97536"/>
                  </a:lnTo>
                  <a:lnTo>
                    <a:pt x="15866490" y="114427"/>
                  </a:lnTo>
                  <a:lnTo>
                    <a:pt x="15849600" y="114427"/>
                  </a:lnTo>
                  <a:lnTo>
                    <a:pt x="15849600" y="16891"/>
                  </a:lnTo>
                  <a:lnTo>
                    <a:pt x="15866490" y="16891"/>
                  </a:lnTo>
                  <a:lnTo>
                    <a:pt x="15866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0AFC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63040" y="5760720"/>
            <a:ext cx="14630400" cy="2233538"/>
            <a:chOff x="0" y="0"/>
            <a:chExt cx="19507200" cy="29780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0" cy="2978051"/>
            </a:xfrm>
            <a:custGeom>
              <a:avLst/>
              <a:gdLst/>
              <a:ahLst/>
              <a:cxnLst/>
              <a:rect r="r" b="b" t="t" l="l"/>
              <a:pathLst>
                <a:path h="2978051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2978051"/>
                  </a:lnTo>
                  <a:lnTo>
                    <a:pt x="0" y="2978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257" r="0" b="-4400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9507200" cy="30447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Nafisa Usrat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Roll: 245451 </a:t>
              </a:r>
              <a:r>
                <a:rPr lang="en-US" sz="2799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| Phone: 01751996940</a:t>
              </a:r>
            </a:p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Supervisor</a:t>
              </a:r>
              <a:r>
                <a:rPr lang="en-US" sz="2799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</a:t>
              </a:r>
              <a:r>
                <a:rPr lang="en-US" sz="2799" b="true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Dr. Rezvi Shahariar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Institute of Information Technology (IIT), University of Dhaka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8640" y="9966960"/>
            <a:ext cx="7315200" cy="320040"/>
            <a:chOff x="0" y="0"/>
            <a:chExt cx="9753600" cy="426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426720"/>
            </a:xfrm>
            <a:custGeom>
              <a:avLst/>
              <a:gdLst/>
              <a:ahLst/>
              <a:cxnLst/>
              <a:rect r="r" b="b" t="t" l="l"/>
              <a:pathLst>
                <a:path h="426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753600" cy="464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SPL-1  |  2026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7144072" y="8934680"/>
            <a:ext cx="250297" cy="624916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5184"/>
              </a:lnSpc>
              <a:spcBef>
                <a:spcPct val="0"/>
              </a:spcBef>
            </a:pPr>
            <a:r>
              <a:rPr lang="en-US" sz="37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65760"/>
            <a:ext cx="16459200" cy="1123801"/>
            <a:chOff x="0" y="0"/>
            <a:chExt cx="21945600" cy="1498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57" r="0" b="-2341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1724663"/>
            <a:ext cx="3097787" cy="3408683"/>
            <a:chOff x="0" y="0"/>
            <a:chExt cx="4130383" cy="45449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4096512" cy="4511040"/>
            </a:xfrm>
            <a:custGeom>
              <a:avLst/>
              <a:gdLst/>
              <a:ahLst/>
              <a:cxnLst/>
              <a:rect r="r" b="b" t="t" l="l"/>
              <a:pathLst>
                <a:path h="45110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30294" cy="4544822"/>
            </a:xfrm>
            <a:custGeom>
              <a:avLst/>
              <a:gdLst/>
              <a:ahLst/>
              <a:cxnLst/>
              <a:rect r="r" b="b" t="t" l="l"/>
              <a:pathLst>
                <a:path h="4544822" w="4130294">
                  <a:moveTo>
                    <a:pt x="16891" y="0"/>
                  </a:moveTo>
                  <a:lnTo>
                    <a:pt x="4113403" y="0"/>
                  </a:lnTo>
                  <a:cubicBezTo>
                    <a:pt x="4122801" y="0"/>
                    <a:pt x="4130294" y="7620"/>
                    <a:pt x="4130294" y="16891"/>
                  </a:cubicBezTo>
                  <a:lnTo>
                    <a:pt x="4130294" y="4527931"/>
                  </a:lnTo>
                  <a:cubicBezTo>
                    <a:pt x="4130294" y="4537329"/>
                    <a:pt x="4122674" y="4544822"/>
                    <a:pt x="4113403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4113403" y="4511040"/>
                  </a:lnTo>
                  <a:lnTo>
                    <a:pt x="4113403" y="4527931"/>
                  </a:lnTo>
                  <a:lnTo>
                    <a:pt x="4096512" y="4527931"/>
                  </a:lnTo>
                  <a:lnTo>
                    <a:pt x="4096512" y="16891"/>
                  </a:lnTo>
                  <a:lnTo>
                    <a:pt x="4113403" y="16891"/>
                  </a:lnTo>
                  <a:lnTo>
                    <a:pt x="411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5943" y="1724663"/>
            <a:ext cx="3097787" cy="171707"/>
            <a:chOff x="0" y="0"/>
            <a:chExt cx="4130383" cy="2289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4096512" cy="195072"/>
            </a:xfrm>
            <a:custGeom>
              <a:avLst/>
              <a:gdLst/>
              <a:ahLst/>
              <a:cxnLst/>
              <a:rect r="r" b="b" t="t" l="l"/>
              <a:pathLst>
                <a:path h="195072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C89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30294" cy="228856"/>
            </a:xfrm>
            <a:custGeom>
              <a:avLst/>
              <a:gdLst/>
              <a:ahLst/>
              <a:cxnLst/>
              <a:rect r="r" b="b" t="t" l="l"/>
              <a:pathLst>
                <a:path h="228856" w="4130294">
                  <a:moveTo>
                    <a:pt x="16891" y="0"/>
                  </a:moveTo>
                  <a:lnTo>
                    <a:pt x="4113403" y="0"/>
                  </a:lnTo>
                  <a:cubicBezTo>
                    <a:pt x="4122801" y="0"/>
                    <a:pt x="4130294" y="7620"/>
                    <a:pt x="4130294" y="16891"/>
                  </a:cubicBezTo>
                  <a:lnTo>
                    <a:pt x="4130294" y="211963"/>
                  </a:lnTo>
                  <a:cubicBezTo>
                    <a:pt x="4130294" y="221361"/>
                    <a:pt x="4122674" y="228854"/>
                    <a:pt x="4113403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113403" y="195072"/>
                  </a:lnTo>
                  <a:lnTo>
                    <a:pt x="4113403" y="211963"/>
                  </a:lnTo>
                  <a:lnTo>
                    <a:pt x="4096512" y="211963"/>
                  </a:lnTo>
                  <a:lnTo>
                    <a:pt x="4096512" y="16891"/>
                  </a:lnTo>
                  <a:lnTo>
                    <a:pt x="4113403" y="16891"/>
                  </a:lnTo>
                  <a:lnTo>
                    <a:pt x="411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9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2011680"/>
            <a:ext cx="3072384" cy="1005840"/>
            <a:chOff x="0" y="0"/>
            <a:chExt cx="4096512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96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17" r="0" b="-951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4096512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00C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3072384"/>
            <a:ext cx="3072384" cy="640080"/>
            <a:chOff x="0" y="0"/>
            <a:chExt cx="4096512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96512" cy="853440"/>
            </a:xfrm>
            <a:custGeom>
              <a:avLst/>
              <a:gdLst/>
              <a:ahLst/>
              <a:cxnLst/>
              <a:rect r="r" b="b" t="t" l="l"/>
              <a:pathLst>
                <a:path h="8534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A0F1A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096512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Benign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8640" y="3950589"/>
            <a:ext cx="3072384" cy="1097280"/>
            <a:chOff x="0" y="0"/>
            <a:chExt cx="4096512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96512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096512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 traffic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74087" y="1724663"/>
            <a:ext cx="3097787" cy="3408683"/>
            <a:chOff x="0" y="0"/>
            <a:chExt cx="4130383" cy="4544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096512" cy="4511040"/>
            </a:xfrm>
            <a:custGeom>
              <a:avLst/>
              <a:gdLst/>
              <a:ahLst/>
              <a:cxnLst/>
              <a:rect r="r" b="b" t="t" l="l"/>
              <a:pathLst>
                <a:path h="45110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30294" cy="4544822"/>
            </a:xfrm>
            <a:custGeom>
              <a:avLst/>
              <a:gdLst/>
              <a:ahLst/>
              <a:cxnLst/>
              <a:rect r="r" b="b" t="t" l="l"/>
              <a:pathLst>
                <a:path h="4544822" w="4130294">
                  <a:moveTo>
                    <a:pt x="16891" y="0"/>
                  </a:moveTo>
                  <a:lnTo>
                    <a:pt x="4113403" y="0"/>
                  </a:lnTo>
                  <a:cubicBezTo>
                    <a:pt x="4122801" y="0"/>
                    <a:pt x="4130294" y="7620"/>
                    <a:pt x="4130294" y="16891"/>
                  </a:cubicBezTo>
                  <a:lnTo>
                    <a:pt x="4130294" y="4527931"/>
                  </a:lnTo>
                  <a:cubicBezTo>
                    <a:pt x="4130294" y="4537329"/>
                    <a:pt x="4122674" y="4544822"/>
                    <a:pt x="4113403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4113403" y="4511040"/>
                  </a:lnTo>
                  <a:lnTo>
                    <a:pt x="4113403" y="4527931"/>
                  </a:lnTo>
                  <a:lnTo>
                    <a:pt x="4096512" y="4527931"/>
                  </a:lnTo>
                  <a:lnTo>
                    <a:pt x="4096512" y="16891"/>
                  </a:lnTo>
                  <a:lnTo>
                    <a:pt x="4113403" y="16891"/>
                  </a:lnTo>
                  <a:lnTo>
                    <a:pt x="411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0F1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974087" y="1724663"/>
            <a:ext cx="3097787" cy="171707"/>
            <a:chOff x="0" y="0"/>
            <a:chExt cx="4130383" cy="2289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096512" cy="195072"/>
            </a:xfrm>
            <a:custGeom>
              <a:avLst/>
              <a:gdLst/>
              <a:ahLst/>
              <a:cxnLst/>
              <a:rect r="r" b="b" t="t" l="l"/>
              <a:pathLst>
                <a:path h="195072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30294" cy="228856"/>
            </a:xfrm>
            <a:custGeom>
              <a:avLst/>
              <a:gdLst/>
              <a:ahLst/>
              <a:cxnLst/>
              <a:rect r="r" b="b" t="t" l="l"/>
              <a:pathLst>
                <a:path h="228856" w="4130294">
                  <a:moveTo>
                    <a:pt x="16891" y="0"/>
                  </a:moveTo>
                  <a:lnTo>
                    <a:pt x="4113403" y="0"/>
                  </a:lnTo>
                  <a:cubicBezTo>
                    <a:pt x="4122801" y="0"/>
                    <a:pt x="4130294" y="7620"/>
                    <a:pt x="4130294" y="16891"/>
                  </a:cubicBezTo>
                  <a:lnTo>
                    <a:pt x="4130294" y="211963"/>
                  </a:lnTo>
                  <a:cubicBezTo>
                    <a:pt x="4130294" y="221361"/>
                    <a:pt x="4122674" y="228854"/>
                    <a:pt x="4113403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113403" y="195072"/>
                  </a:lnTo>
                  <a:lnTo>
                    <a:pt x="4113403" y="211963"/>
                  </a:lnTo>
                  <a:lnTo>
                    <a:pt x="4096512" y="211963"/>
                  </a:lnTo>
                  <a:lnTo>
                    <a:pt x="4096512" y="16891"/>
                  </a:lnTo>
                  <a:lnTo>
                    <a:pt x="4113403" y="16891"/>
                  </a:lnTo>
                  <a:lnTo>
                    <a:pt x="411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986784" y="2011680"/>
            <a:ext cx="3072384" cy="1005840"/>
            <a:chOff x="0" y="0"/>
            <a:chExt cx="4096512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96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17" r="0" b="-951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4096512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F4A2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986784" y="3072384"/>
            <a:ext cx="3072384" cy="1135029"/>
            <a:chOff x="0" y="0"/>
            <a:chExt cx="4096512" cy="15133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96512" cy="1513372"/>
            </a:xfrm>
            <a:custGeom>
              <a:avLst/>
              <a:gdLst/>
              <a:ahLst/>
              <a:cxnLst/>
              <a:rect r="r" b="b" t="t" l="l"/>
              <a:pathLst>
                <a:path h="1513372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513372"/>
                  </a:lnTo>
                  <a:lnTo>
                    <a:pt x="0" y="15133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4096512" cy="1570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DGA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</a:t>
              </a:r>
              <a:r>
                <a:rPr lang="en-US" sz="21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Domain Generation Algorithms)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999490" y="3922014"/>
            <a:ext cx="3072384" cy="1097280"/>
            <a:chOff x="0" y="0"/>
            <a:chExt cx="4096512" cy="1463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96512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096512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Malware domains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12231" y="1724663"/>
            <a:ext cx="3097787" cy="3408683"/>
            <a:chOff x="0" y="0"/>
            <a:chExt cx="4130383" cy="45449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4096512" cy="4511040"/>
            </a:xfrm>
            <a:custGeom>
              <a:avLst/>
              <a:gdLst/>
              <a:ahLst/>
              <a:cxnLst/>
              <a:rect r="r" b="b" t="t" l="l"/>
              <a:pathLst>
                <a:path h="45110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30294" cy="4544822"/>
            </a:xfrm>
            <a:custGeom>
              <a:avLst/>
              <a:gdLst/>
              <a:ahLst/>
              <a:cxnLst/>
              <a:rect r="r" b="b" t="t" l="l"/>
              <a:pathLst>
                <a:path h="4544822" w="4130294">
                  <a:moveTo>
                    <a:pt x="16891" y="0"/>
                  </a:moveTo>
                  <a:lnTo>
                    <a:pt x="4113403" y="0"/>
                  </a:lnTo>
                  <a:cubicBezTo>
                    <a:pt x="4122801" y="0"/>
                    <a:pt x="4130294" y="7620"/>
                    <a:pt x="4130294" y="16891"/>
                  </a:cubicBezTo>
                  <a:lnTo>
                    <a:pt x="4130294" y="4527931"/>
                  </a:lnTo>
                  <a:cubicBezTo>
                    <a:pt x="4130294" y="4537329"/>
                    <a:pt x="4122674" y="4544822"/>
                    <a:pt x="4113403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4113403" y="4511040"/>
                  </a:lnTo>
                  <a:lnTo>
                    <a:pt x="4113403" y="4527931"/>
                  </a:lnTo>
                  <a:lnTo>
                    <a:pt x="4096512" y="4527931"/>
                  </a:lnTo>
                  <a:lnTo>
                    <a:pt x="4096512" y="16891"/>
                  </a:lnTo>
                  <a:lnTo>
                    <a:pt x="4113403" y="16891"/>
                  </a:lnTo>
                  <a:lnTo>
                    <a:pt x="411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412231" y="1724663"/>
            <a:ext cx="3097787" cy="171707"/>
            <a:chOff x="0" y="0"/>
            <a:chExt cx="4130383" cy="22894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4096512" cy="195072"/>
            </a:xfrm>
            <a:custGeom>
              <a:avLst/>
              <a:gdLst/>
              <a:ahLst/>
              <a:cxnLst/>
              <a:rect r="r" b="b" t="t" l="l"/>
              <a:pathLst>
                <a:path h="195072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30294" cy="228856"/>
            </a:xfrm>
            <a:custGeom>
              <a:avLst/>
              <a:gdLst/>
              <a:ahLst/>
              <a:cxnLst/>
              <a:rect r="r" b="b" t="t" l="l"/>
              <a:pathLst>
                <a:path h="228856" w="4130294">
                  <a:moveTo>
                    <a:pt x="16891" y="0"/>
                  </a:moveTo>
                  <a:lnTo>
                    <a:pt x="4113403" y="0"/>
                  </a:lnTo>
                  <a:cubicBezTo>
                    <a:pt x="4122801" y="0"/>
                    <a:pt x="4130294" y="7620"/>
                    <a:pt x="4130294" y="16891"/>
                  </a:cubicBezTo>
                  <a:lnTo>
                    <a:pt x="4130294" y="211963"/>
                  </a:lnTo>
                  <a:cubicBezTo>
                    <a:pt x="4130294" y="221361"/>
                    <a:pt x="4122674" y="228854"/>
                    <a:pt x="4113403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113403" y="195072"/>
                  </a:lnTo>
                  <a:lnTo>
                    <a:pt x="4113403" y="211963"/>
                  </a:lnTo>
                  <a:lnTo>
                    <a:pt x="4096512" y="211963"/>
                  </a:lnTo>
                  <a:lnTo>
                    <a:pt x="4096512" y="16891"/>
                  </a:lnTo>
                  <a:lnTo>
                    <a:pt x="4113403" y="16891"/>
                  </a:lnTo>
                  <a:lnTo>
                    <a:pt x="411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424928" y="2011680"/>
            <a:ext cx="3072384" cy="1005840"/>
            <a:chOff x="0" y="0"/>
            <a:chExt cx="4096512" cy="1341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96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17" r="0" b="-951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4096512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🎣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424928" y="3072384"/>
            <a:ext cx="3072384" cy="640080"/>
            <a:chOff x="0" y="0"/>
            <a:chExt cx="4096512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96512" cy="853440"/>
            </a:xfrm>
            <a:custGeom>
              <a:avLst/>
              <a:gdLst/>
              <a:ahLst/>
              <a:cxnLst/>
              <a:rect r="r" b="b" t="t" l="l"/>
              <a:pathLst>
                <a:path h="8534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4096512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Phishing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412231" y="3922014"/>
            <a:ext cx="3072384" cy="1097280"/>
            <a:chOff x="0" y="0"/>
            <a:chExt cx="4096512" cy="1463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96512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096512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Brand spoofing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850375" y="1724663"/>
            <a:ext cx="3097787" cy="3408683"/>
            <a:chOff x="0" y="0"/>
            <a:chExt cx="4130383" cy="45449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4096512" cy="4511040"/>
            </a:xfrm>
            <a:custGeom>
              <a:avLst/>
              <a:gdLst/>
              <a:ahLst/>
              <a:cxnLst/>
              <a:rect r="r" b="b" t="t" l="l"/>
              <a:pathLst>
                <a:path h="45110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30294" cy="4544822"/>
            </a:xfrm>
            <a:custGeom>
              <a:avLst/>
              <a:gdLst/>
              <a:ahLst/>
              <a:cxnLst/>
              <a:rect r="r" b="b" t="t" l="l"/>
              <a:pathLst>
                <a:path h="4544822" w="4130294">
                  <a:moveTo>
                    <a:pt x="16891" y="0"/>
                  </a:moveTo>
                  <a:lnTo>
                    <a:pt x="4113403" y="0"/>
                  </a:lnTo>
                  <a:cubicBezTo>
                    <a:pt x="4122801" y="0"/>
                    <a:pt x="4130294" y="7620"/>
                    <a:pt x="4130294" y="16891"/>
                  </a:cubicBezTo>
                  <a:lnTo>
                    <a:pt x="4130294" y="4527931"/>
                  </a:lnTo>
                  <a:cubicBezTo>
                    <a:pt x="4130294" y="4537329"/>
                    <a:pt x="4122674" y="4544822"/>
                    <a:pt x="4113403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4113403" y="4511040"/>
                  </a:lnTo>
                  <a:lnTo>
                    <a:pt x="4113403" y="4527931"/>
                  </a:lnTo>
                  <a:lnTo>
                    <a:pt x="4096512" y="4527931"/>
                  </a:lnTo>
                  <a:lnTo>
                    <a:pt x="4096512" y="16891"/>
                  </a:lnTo>
                  <a:lnTo>
                    <a:pt x="4113403" y="16891"/>
                  </a:lnTo>
                  <a:lnTo>
                    <a:pt x="411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850375" y="1724663"/>
            <a:ext cx="3097787" cy="171707"/>
            <a:chOff x="0" y="0"/>
            <a:chExt cx="4130383" cy="22894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4096512" cy="195072"/>
            </a:xfrm>
            <a:custGeom>
              <a:avLst/>
              <a:gdLst/>
              <a:ahLst/>
              <a:cxnLst/>
              <a:rect r="r" b="b" t="t" l="l"/>
              <a:pathLst>
                <a:path h="195072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9B72C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30294" cy="228856"/>
            </a:xfrm>
            <a:custGeom>
              <a:avLst/>
              <a:gdLst/>
              <a:ahLst/>
              <a:cxnLst/>
              <a:rect r="r" b="b" t="t" l="l"/>
              <a:pathLst>
                <a:path h="228856" w="4130294">
                  <a:moveTo>
                    <a:pt x="16891" y="0"/>
                  </a:moveTo>
                  <a:lnTo>
                    <a:pt x="4113403" y="0"/>
                  </a:lnTo>
                  <a:cubicBezTo>
                    <a:pt x="4122801" y="0"/>
                    <a:pt x="4130294" y="7620"/>
                    <a:pt x="4130294" y="16891"/>
                  </a:cubicBezTo>
                  <a:lnTo>
                    <a:pt x="4130294" y="211963"/>
                  </a:lnTo>
                  <a:cubicBezTo>
                    <a:pt x="4130294" y="221361"/>
                    <a:pt x="4122674" y="228854"/>
                    <a:pt x="4113403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113403" y="195072"/>
                  </a:lnTo>
                  <a:lnTo>
                    <a:pt x="4113403" y="211963"/>
                  </a:lnTo>
                  <a:lnTo>
                    <a:pt x="4096512" y="211963"/>
                  </a:lnTo>
                  <a:lnTo>
                    <a:pt x="4096512" y="16891"/>
                  </a:lnTo>
                  <a:lnTo>
                    <a:pt x="4113403" y="16891"/>
                  </a:lnTo>
                  <a:lnTo>
                    <a:pt x="411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72C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863072" y="2011680"/>
            <a:ext cx="3072384" cy="1005840"/>
            <a:chOff x="0" y="0"/>
            <a:chExt cx="4096512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96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17" r="0" b="-951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85725"/>
              <a:ext cx="4096512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FF5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⇄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863072" y="3072384"/>
            <a:ext cx="3072384" cy="640080"/>
            <a:chOff x="0" y="0"/>
            <a:chExt cx="4096512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96512" cy="853440"/>
            </a:xfrm>
            <a:custGeom>
              <a:avLst/>
              <a:gdLst/>
              <a:ahLst/>
              <a:cxnLst/>
              <a:rect r="r" b="b" t="t" l="l"/>
              <a:pathLst>
                <a:path h="8534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4096512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Tunneling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850375" y="3950589"/>
            <a:ext cx="3072384" cy="1097280"/>
            <a:chOff x="0" y="0"/>
            <a:chExt cx="4096512" cy="14630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96512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096512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exfiltration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288519" y="1724663"/>
            <a:ext cx="3097787" cy="3408683"/>
            <a:chOff x="0" y="0"/>
            <a:chExt cx="4130383" cy="454491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4096512" cy="4511040"/>
            </a:xfrm>
            <a:custGeom>
              <a:avLst/>
              <a:gdLst/>
              <a:ahLst/>
              <a:cxnLst/>
              <a:rect r="r" b="b" t="t" l="l"/>
              <a:pathLst>
                <a:path h="45110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130294" cy="4544822"/>
            </a:xfrm>
            <a:custGeom>
              <a:avLst/>
              <a:gdLst/>
              <a:ahLst/>
              <a:cxnLst/>
              <a:rect r="r" b="b" t="t" l="l"/>
              <a:pathLst>
                <a:path h="4544822" w="4130294">
                  <a:moveTo>
                    <a:pt x="16891" y="0"/>
                  </a:moveTo>
                  <a:lnTo>
                    <a:pt x="4113403" y="0"/>
                  </a:lnTo>
                  <a:cubicBezTo>
                    <a:pt x="4122801" y="0"/>
                    <a:pt x="4130294" y="7620"/>
                    <a:pt x="4130294" y="16891"/>
                  </a:cubicBezTo>
                  <a:lnTo>
                    <a:pt x="4130294" y="4527931"/>
                  </a:lnTo>
                  <a:cubicBezTo>
                    <a:pt x="4130294" y="4537329"/>
                    <a:pt x="4122674" y="4544822"/>
                    <a:pt x="4113403" y="4544822"/>
                  </a:cubicBezTo>
                  <a:lnTo>
                    <a:pt x="16891" y="4544822"/>
                  </a:lnTo>
                  <a:cubicBezTo>
                    <a:pt x="7493" y="4544822"/>
                    <a:pt x="0" y="4537202"/>
                    <a:pt x="0" y="4527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27931"/>
                  </a:lnTo>
                  <a:lnTo>
                    <a:pt x="16891" y="4527931"/>
                  </a:lnTo>
                  <a:lnTo>
                    <a:pt x="16891" y="4511040"/>
                  </a:lnTo>
                  <a:lnTo>
                    <a:pt x="4113403" y="4511040"/>
                  </a:lnTo>
                  <a:lnTo>
                    <a:pt x="4113403" y="4527931"/>
                  </a:lnTo>
                  <a:lnTo>
                    <a:pt x="4096512" y="4527931"/>
                  </a:lnTo>
                  <a:lnTo>
                    <a:pt x="4096512" y="16891"/>
                  </a:lnTo>
                  <a:lnTo>
                    <a:pt x="4113403" y="16891"/>
                  </a:lnTo>
                  <a:lnTo>
                    <a:pt x="411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288519" y="1724663"/>
            <a:ext cx="3097787" cy="171707"/>
            <a:chOff x="0" y="0"/>
            <a:chExt cx="4130383" cy="22894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4096512" cy="195072"/>
            </a:xfrm>
            <a:custGeom>
              <a:avLst/>
              <a:gdLst/>
              <a:ahLst/>
              <a:cxnLst/>
              <a:rect r="r" b="b" t="t" l="l"/>
              <a:pathLst>
                <a:path h="195072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F5A5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130294" cy="228856"/>
            </a:xfrm>
            <a:custGeom>
              <a:avLst/>
              <a:gdLst/>
              <a:ahLst/>
              <a:cxnLst/>
              <a:rect r="r" b="b" t="t" l="l"/>
              <a:pathLst>
                <a:path h="228856" w="4130294">
                  <a:moveTo>
                    <a:pt x="16891" y="0"/>
                  </a:moveTo>
                  <a:lnTo>
                    <a:pt x="4113403" y="0"/>
                  </a:lnTo>
                  <a:cubicBezTo>
                    <a:pt x="4122801" y="0"/>
                    <a:pt x="4130294" y="7620"/>
                    <a:pt x="4130294" y="16891"/>
                  </a:cubicBezTo>
                  <a:lnTo>
                    <a:pt x="4130294" y="211963"/>
                  </a:lnTo>
                  <a:cubicBezTo>
                    <a:pt x="4130294" y="221361"/>
                    <a:pt x="4122674" y="228854"/>
                    <a:pt x="4113403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113403" y="195072"/>
                  </a:lnTo>
                  <a:lnTo>
                    <a:pt x="4113403" y="211963"/>
                  </a:lnTo>
                  <a:lnTo>
                    <a:pt x="4096512" y="211963"/>
                  </a:lnTo>
                  <a:lnTo>
                    <a:pt x="4096512" y="16891"/>
                  </a:lnTo>
                  <a:lnTo>
                    <a:pt x="4113403" y="16891"/>
                  </a:lnTo>
                  <a:lnTo>
                    <a:pt x="4113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5A5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4301216" y="2011680"/>
            <a:ext cx="3072384" cy="1005840"/>
            <a:chOff x="0" y="0"/>
            <a:chExt cx="4096512" cy="13411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096512" cy="1341120"/>
            </a:xfrm>
            <a:custGeom>
              <a:avLst/>
              <a:gdLst/>
              <a:ahLst/>
              <a:cxnLst/>
              <a:rect r="r" b="b" t="t" l="l"/>
              <a:pathLst>
                <a:path h="134112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17" r="0" b="-951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85725"/>
              <a:ext cx="4096512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301216" y="3072384"/>
            <a:ext cx="3072384" cy="640080"/>
            <a:chOff x="0" y="0"/>
            <a:chExt cx="4096512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96512" cy="853440"/>
            </a:xfrm>
            <a:custGeom>
              <a:avLst/>
              <a:gdLst/>
              <a:ahLst/>
              <a:cxnLst/>
              <a:rect r="r" b="b" t="t" l="l"/>
              <a:pathLst>
                <a:path h="8534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57150"/>
              <a:ext cx="4096512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288519" y="3950589"/>
            <a:ext cx="3072384" cy="1097280"/>
            <a:chOff x="0" y="0"/>
            <a:chExt cx="4096512" cy="14630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096512" cy="1463040"/>
            </a:xfrm>
            <a:custGeom>
              <a:avLst/>
              <a:gdLst/>
              <a:ahLst/>
              <a:cxnLst/>
              <a:rect r="r" b="b" t="t" l="l"/>
              <a:pathLst>
                <a:path h="14630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4096512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Command &amp; Control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48640" y="5577840"/>
            <a:ext cx="16459200" cy="976238"/>
            <a:chOff x="0" y="0"/>
            <a:chExt cx="21945600" cy="130165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945600" cy="1301651"/>
            </a:xfrm>
            <a:custGeom>
              <a:avLst/>
              <a:gdLst/>
              <a:ahLst/>
              <a:cxnLst/>
              <a:rect r="r" b="b" t="t" l="l"/>
              <a:pathLst>
                <a:path h="130165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01651"/>
                  </a:lnTo>
                  <a:lnTo>
                    <a:pt x="0" y="1301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681" r="0" b="-27534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21945600" cy="13492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DNS (Domain Name System) queries carry rich threat signals — but classifying them requires understanding sequential character patterns.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45475" y="6763628"/>
            <a:ext cx="16459200" cy="2743200"/>
            <a:chOff x="0" y="0"/>
            <a:chExt cx="21945600" cy="36576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945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2194560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51510" indent="-32575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~39,000 labeled DNS samples across 5 threat categories</a:t>
              </a:r>
            </a:p>
            <a:p>
              <a:pPr algn="l" marL="651510" indent="-32575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Standard libraries have not been used, all math implemented from scratch in C++</a:t>
              </a:r>
            </a:p>
            <a:p>
              <a:pPr algn="l" marL="651510" indent="-325755" lvl="1">
                <a:lnSpc>
                  <a:spcPts val="3240"/>
                </a:lnSpc>
                <a:buFont typeface="Arial"/>
                <a:buChar char="•"/>
              </a:pPr>
              <a:r>
                <a:rPr lang="en-US" b="true" sz="27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Goal: build and validate a working LSTM(Long Short-Term Memory) classifier end-to-end</a:t>
              </a: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17132519" y="8944877"/>
            <a:ext cx="253787" cy="61108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5099"/>
              </a:lnSpc>
              <a:spcBef>
                <a:spcPct val="0"/>
              </a:spcBef>
            </a:pPr>
            <a:r>
              <a:rPr lang="en-US" sz="364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11861" y="882856"/>
            <a:ext cx="16459200" cy="1123801"/>
            <a:chOff x="0" y="0"/>
            <a:chExt cx="21945600" cy="1498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57" r="0" b="-2341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89639" y="2730503"/>
            <a:ext cx="2494283" cy="2037083"/>
            <a:chOff x="0" y="0"/>
            <a:chExt cx="3325711" cy="2716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3291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256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2699131"/>
                  </a:lnTo>
                  <a:cubicBezTo>
                    <a:pt x="3325622" y="2708529"/>
                    <a:pt x="3318002" y="2716022"/>
                    <a:pt x="330873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3308731" y="2682240"/>
                  </a:lnTo>
                  <a:lnTo>
                    <a:pt x="3308731" y="2699131"/>
                  </a:lnTo>
                  <a:lnTo>
                    <a:pt x="3291840" y="2699131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02336" y="2889504"/>
            <a:ext cx="2468880" cy="1097280"/>
            <a:chOff x="0" y="0"/>
            <a:chExt cx="329184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91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291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Raw DNS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Domain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2336" y="4059936"/>
            <a:ext cx="2468880" cy="585216"/>
            <a:chOff x="0" y="0"/>
            <a:chExt cx="329184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91840" cy="780288"/>
            </a:xfrm>
            <a:custGeom>
              <a:avLst/>
              <a:gdLst/>
              <a:ahLst/>
              <a:cxnLst/>
              <a:rect r="r" b="b" t="t" l="l"/>
              <a:pathLst>
                <a:path h="78028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2918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88742" y="3729990"/>
            <a:ext cx="769620" cy="38100"/>
            <a:chOff x="0" y="0"/>
            <a:chExt cx="1026160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0"/>
              <a:ext cx="975360" cy="50800"/>
            </a:xfrm>
            <a:custGeom>
              <a:avLst/>
              <a:gdLst/>
              <a:ahLst/>
              <a:cxnLst/>
              <a:rect r="r" b="b" t="t" l="l"/>
              <a:pathLst>
                <a:path h="508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260855" y="2730503"/>
            <a:ext cx="2494283" cy="2037083"/>
            <a:chOff x="0" y="0"/>
            <a:chExt cx="3325711" cy="27161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3291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256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2699131"/>
                  </a:lnTo>
                  <a:cubicBezTo>
                    <a:pt x="3325622" y="2708529"/>
                    <a:pt x="3318002" y="2716022"/>
                    <a:pt x="330873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3308731" y="2682240"/>
                  </a:lnTo>
                  <a:lnTo>
                    <a:pt x="3308731" y="2699131"/>
                  </a:lnTo>
                  <a:lnTo>
                    <a:pt x="3291840" y="2699131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273552" y="2889504"/>
            <a:ext cx="2468880" cy="1097280"/>
            <a:chOff x="0" y="0"/>
            <a:chExt cx="329184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291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291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Preprocess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&amp; Encode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273552" y="4059936"/>
            <a:ext cx="2468880" cy="622139"/>
            <a:chOff x="0" y="0"/>
            <a:chExt cx="3291840" cy="8295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91840" cy="829518"/>
            </a:xfrm>
            <a:custGeom>
              <a:avLst/>
              <a:gdLst/>
              <a:ahLst/>
              <a:cxnLst/>
              <a:rect r="r" b="b" t="t" l="l"/>
              <a:pathLst>
                <a:path h="82951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829518"/>
                  </a:lnTo>
                  <a:lnTo>
                    <a:pt x="0" y="8295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91" r="0" b="-2435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291840" cy="8676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cleanDns() → charToIndex()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759958" y="3729990"/>
            <a:ext cx="769620" cy="38100"/>
            <a:chOff x="0" y="0"/>
            <a:chExt cx="1026160" cy="50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0"/>
              <a:ext cx="975360" cy="50800"/>
            </a:xfrm>
            <a:custGeom>
              <a:avLst/>
              <a:gdLst/>
              <a:ahLst/>
              <a:cxnLst/>
              <a:rect r="r" b="b" t="t" l="l"/>
              <a:pathLst>
                <a:path h="508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132071" y="2730503"/>
            <a:ext cx="2494283" cy="2037083"/>
            <a:chOff x="0" y="0"/>
            <a:chExt cx="3325711" cy="27161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3291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256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2699131"/>
                  </a:lnTo>
                  <a:cubicBezTo>
                    <a:pt x="3325622" y="2708529"/>
                    <a:pt x="3318002" y="2716022"/>
                    <a:pt x="330873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3308731" y="2682240"/>
                  </a:lnTo>
                  <a:lnTo>
                    <a:pt x="3308731" y="2699131"/>
                  </a:lnTo>
                  <a:lnTo>
                    <a:pt x="3291840" y="2699131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144768" y="2889504"/>
            <a:ext cx="2468880" cy="1097280"/>
            <a:chOff x="0" y="0"/>
            <a:chExt cx="329184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91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3291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Pad/Truncate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 100 chars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132071" y="4059936"/>
            <a:ext cx="2468880" cy="585216"/>
            <a:chOff x="0" y="0"/>
            <a:chExt cx="3291840" cy="7802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291840" cy="780288"/>
            </a:xfrm>
            <a:custGeom>
              <a:avLst/>
              <a:gdLst/>
              <a:ahLst/>
              <a:cxnLst/>
              <a:rect r="r" b="b" t="t" l="l"/>
              <a:pathLst>
                <a:path h="78028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2918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kMaxLength = 100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631174" y="3729990"/>
            <a:ext cx="769620" cy="38100"/>
            <a:chOff x="0" y="0"/>
            <a:chExt cx="1026160" cy="50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25400" y="0"/>
              <a:ext cx="975360" cy="50800"/>
            </a:xfrm>
            <a:custGeom>
              <a:avLst/>
              <a:gdLst/>
              <a:ahLst/>
              <a:cxnLst/>
              <a:rect r="r" b="b" t="t" l="l"/>
              <a:pathLst>
                <a:path h="508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003287" y="2730503"/>
            <a:ext cx="2494283" cy="2037083"/>
            <a:chOff x="0" y="0"/>
            <a:chExt cx="3325711" cy="27161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3291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256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2699131"/>
                  </a:lnTo>
                  <a:cubicBezTo>
                    <a:pt x="3325622" y="2708529"/>
                    <a:pt x="3318002" y="2716022"/>
                    <a:pt x="330873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3308731" y="2682240"/>
                  </a:lnTo>
                  <a:lnTo>
                    <a:pt x="3308731" y="2699131"/>
                  </a:lnTo>
                  <a:lnTo>
                    <a:pt x="3291840" y="2699131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015984" y="2889504"/>
            <a:ext cx="2468880" cy="1097280"/>
            <a:chOff x="0" y="0"/>
            <a:chExt cx="329184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91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3291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LSTM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015984" y="4059936"/>
            <a:ext cx="2468880" cy="585216"/>
            <a:chOff x="0" y="0"/>
            <a:chExt cx="3291840" cy="780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91840" cy="780288"/>
            </a:xfrm>
            <a:custGeom>
              <a:avLst/>
              <a:gdLst/>
              <a:ahLst/>
              <a:cxnLst/>
              <a:rect r="r" b="b" t="t" l="l"/>
              <a:pathLst>
                <a:path h="78028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2918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hiddenSize=32, C++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502390" y="3729990"/>
            <a:ext cx="769620" cy="38100"/>
            <a:chOff x="0" y="0"/>
            <a:chExt cx="1026160" cy="50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25400" y="0"/>
              <a:ext cx="975360" cy="50800"/>
            </a:xfrm>
            <a:custGeom>
              <a:avLst/>
              <a:gdLst/>
              <a:ahLst/>
              <a:cxnLst/>
              <a:rect r="r" b="b" t="t" l="l"/>
              <a:pathLst>
                <a:path h="508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874503" y="2730503"/>
            <a:ext cx="2494283" cy="2037083"/>
            <a:chOff x="0" y="0"/>
            <a:chExt cx="3325711" cy="27161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3291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3256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2699131"/>
                  </a:lnTo>
                  <a:cubicBezTo>
                    <a:pt x="3325622" y="2708529"/>
                    <a:pt x="3318002" y="2716022"/>
                    <a:pt x="330873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3308731" y="2682240"/>
                  </a:lnTo>
                  <a:lnTo>
                    <a:pt x="3308731" y="2699131"/>
                  </a:lnTo>
                  <a:lnTo>
                    <a:pt x="3291840" y="2699131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887200" y="2889504"/>
            <a:ext cx="2468880" cy="1097280"/>
            <a:chOff x="0" y="0"/>
            <a:chExt cx="3291840" cy="1463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91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3291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Dense +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Softmax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887200" y="4059936"/>
            <a:ext cx="2468880" cy="585216"/>
            <a:chOff x="0" y="0"/>
            <a:chExt cx="3291840" cy="7802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91840" cy="780288"/>
            </a:xfrm>
            <a:custGeom>
              <a:avLst/>
              <a:gdLst/>
              <a:ahLst/>
              <a:cxnLst/>
              <a:rect r="r" b="b" t="t" l="l"/>
              <a:pathLst>
                <a:path h="78028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2918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5-class output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373606" y="3729990"/>
            <a:ext cx="769620" cy="38100"/>
            <a:chOff x="0" y="0"/>
            <a:chExt cx="1026160" cy="50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25400" y="0"/>
              <a:ext cx="975360" cy="50800"/>
            </a:xfrm>
            <a:custGeom>
              <a:avLst/>
              <a:gdLst/>
              <a:ahLst/>
              <a:cxnLst/>
              <a:rect r="r" b="b" t="t" l="l"/>
              <a:pathLst>
                <a:path h="508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745719" y="2730503"/>
            <a:ext cx="2494283" cy="2037083"/>
            <a:chOff x="0" y="0"/>
            <a:chExt cx="3325711" cy="271611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32918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325622" cy="2716022"/>
            </a:xfrm>
            <a:custGeom>
              <a:avLst/>
              <a:gdLst/>
              <a:ahLst/>
              <a:cxnLst/>
              <a:rect r="r" b="b" t="t" l="l"/>
              <a:pathLst>
                <a:path h="2716022" w="3325622">
                  <a:moveTo>
                    <a:pt x="16891" y="0"/>
                  </a:moveTo>
                  <a:lnTo>
                    <a:pt x="3308731" y="0"/>
                  </a:lnTo>
                  <a:cubicBezTo>
                    <a:pt x="3318129" y="0"/>
                    <a:pt x="3325622" y="7620"/>
                    <a:pt x="3325622" y="16891"/>
                  </a:cubicBezTo>
                  <a:lnTo>
                    <a:pt x="3325622" y="2699131"/>
                  </a:lnTo>
                  <a:cubicBezTo>
                    <a:pt x="3325622" y="2708529"/>
                    <a:pt x="3318002" y="2716022"/>
                    <a:pt x="330873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3308731" y="2682240"/>
                  </a:lnTo>
                  <a:lnTo>
                    <a:pt x="3308731" y="2699131"/>
                  </a:lnTo>
                  <a:lnTo>
                    <a:pt x="3291840" y="2699131"/>
                  </a:lnTo>
                  <a:lnTo>
                    <a:pt x="3291840" y="16891"/>
                  </a:lnTo>
                  <a:lnTo>
                    <a:pt x="3308731" y="16891"/>
                  </a:lnTo>
                  <a:lnTo>
                    <a:pt x="3308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4758416" y="2889504"/>
            <a:ext cx="2468880" cy="1097280"/>
            <a:chOff x="0" y="0"/>
            <a:chExt cx="3291840" cy="14630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291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32918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Threat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Label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758416" y="4059936"/>
            <a:ext cx="2468880" cy="585216"/>
            <a:chOff x="0" y="0"/>
            <a:chExt cx="3291840" cy="7802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91840" cy="780288"/>
            </a:xfrm>
            <a:custGeom>
              <a:avLst/>
              <a:gdLst/>
              <a:ahLst/>
              <a:cxnLst/>
              <a:rect r="r" b="b" t="t" l="l"/>
              <a:pathLst>
                <a:path h="78028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02" r="0" b="-3220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2918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Prediction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4400" y="5120640"/>
            <a:ext cx="16459200" cy="731520"/>
            <a:chOff x="0" y="0"/>
            <a:chExt cx="21945600" cy="9753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Design Decisions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01703" y="5930903"/>
            <a:ext cx="8255003" cy="1579883"/>
            <a:chOff x="0" y="0"/>
            <a:chExt cx="11006671" cy="210651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0065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89531"/>
                  </a:lnTo>
                  <a:cubicBezTo>
                    <a:pt x="11006582" y="2098929"/>
                    <a:pt x="10998962" y="2106422"/>
                    <a:pt x="1098969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0989691" y="2072640"/>
                  </a:lnTo>
                  <a:lnTo>
                    <a:pt x="10989691" y="2089531"/>
                  </a:lnTo>
                  <a:lnTo>
                    <a:pt x="10972800" y="2089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01703" y="5930903"/>
            <a:ext cx="135131" cy="1579883"/>
            <a:chOff x="0" y="0"/>
            <a:chExt cx="180175" cy="210651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146304" cy="2072640"/>
            </a:xfrm>
            <a:custGeom>
              <a:avLst/>
              <a:gdLst/>
              <a:ahLst/>
              <a:cxnLst/>
              <a:rect r="r" b="b" t="t" l="l"/>
              <a:pathLst>
                <a:path h="20726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80086" cy="2106422"/>
            </a:xfrm>
            <a:custGeom>
              <a:avLst/>
              <a:gdLst/>
              <a:ahLst/>
              <a:cxnLst/>
              <a:rect r="r" b="b" t="t" l="l"/>
              <a:pathLst>
                <a:path h="21064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89531"/>
                  </a:lnTo>
                  <a:cubicBezTo>
                    <a:pt x="180086" y="2098929"/>
                    <a:pt x="172466" y="2106422"/>
                    <a:pt x="163195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63195" y="2072640"/>
                  </a:lnTo>
                  <a:lnTo>
                    <a:pt x="163195" y="2089531"/>
                  </a:lnTo>
                  <a:lnTo>
                    <a:pt x="146304" y="20895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33856" y="6035040"/>
            <a:ext cx="7863840" cy="512064"/>
            <a:chOff x="0" y="0"/>
            <a:chExt cx="10485120" cy="682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&lt;cmath&gt; or &lt;algorithm&gt;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33856" y="6583680"/>
            <a:ext cx="7863840" cy="822960"/>
            <a:chOff x="0" y="0"/>
            <a:chExt cx="10485120" cy="1097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04851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math custom-implemented (squareRoot, logarithm, power via Taylor series)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588503" y="5930903"/>
            <a:ext cx="8255003" cy="1579883"/>
            <a:chOff x="0" y="0"/>
            <a:chExt cx="11006671" cy="210651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10065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89531"/>
                  </a:lnTo>
                  <a:cubicBezTo>
                    <a:pt x="11006582" y="2098929"/>
                    <a:pt x="10998962" y="2106422"/>
                    <a:pt x="1098969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0989691" y="2072640"/>
                  </a:lnTo>
                  <a:lnTo>
                    <a:pt x="10989691" y="2089531"/>
                  </a:lnTo>
                  <a:lnTo>
                    <a:pt x="10972800" y="2089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588503" y="5930903"/>
            <a:ext cx="135131" cy="1579883"/>
            <a:chOff x="0" y="0"/>
            <a:chExt cx="180175" cy="210651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6891" y="16891"/>
              <a:ext cx="146304" cy="2072640"/>
            </a:xfrm>
            <a:custGeom>
              <a:avLst/>
              <a:gdLst/>
              <a:ahLst/>
              <a:cxnLst/>
              <a:rect r="r" b="b" t="t" l="l"/>
              <a:pathLst>
                <a:path h="20726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80086" cy="2106422"/>
            </a:xfrm>
            <a:custGeom>
              <a:avLst/>
              <a:gdLst/>
              <a:ahLst/>
              <a:cxnLst/>
              <a:rect r="r" b="b" t="t" l="l"/>
              <a:pathLst>
                <a:path h="21064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89531"/>
                  </a:lnTo>
                  <a:cubicBezTo>
                    <a:pt x="180086" y="2098929"/>
                    <a:pt x="172466" y="2106422"/>
                    <a:pt x="163195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63195" y="2072640"/>
                  </a:lnTo>
                  <a:lnTo>
                    <a:pt x="163195" y="2089531"/>
                  </a:lnTo>
                  <a:lnTo>
                    <a:pt x="146304" y="20895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820656" y="6035040"/>
            <a:ext cx="7863840" cy="512064"/>
            <a:chOff x="0" y="0"/>
            <a:chExt cx="10485120" cy="68275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BPTT with truncK=15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820656" y="6583680"/>
            <a:ext cx="7863840" cy="822960"/>
            <a:chOff x="0" y="0"/>
            <a:chExt cx="10485120" cy="10972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04851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Truncated backprop to avoid vanishing gradients over long sequences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01703" y="7759703"/>
            <a:ext cx="8255003" cy="1579883"/>
            <a:chOff x="0" y="0"/>
            <a:chExt cx="11006671" cy="210651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16891" y="16891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10065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89531"/>
                  </a:lnTo>
                  <a:cubicBezTo>
                    <a:pt x="11006582" y="2098929"/>
                    <a:pt x="10998962" y="2106422"/>
                    <a:pt x="1098969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0989691" y="2072640"/>
                  </a:lnTo>
                  <a:lnTo>
                    <a:pt x="10989691" y="2089531"/>
                  </a:lnTo>
                  <a:lnTo>
                    <a:pt x="10972800" y="2089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901703" y="7759703"/>
            <a:ext cx="135131" cy="1579883"/>
            <a:chOff x="0" y="0"/>
            <a:chExt cx="180175" cy="210651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16891" y="16891"/>
              <a:ext cx="146304" cy="2072640"/>
            </a:xfrm>
            <a:custGeom>
              <a:avLst/>
              <a:gdLst/>
              <a:ahLst/>
              <a:cxnLst/>
              <a:rect r="r" b="b" t="t" l="l"/>
              <a:pathLst>
                <a:path h="20726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80086" cy="2106422"/>
            </a:xfrm>
            <a:custGeom>
              <a:avLst/>
              <a:gdLst/>
              <a:ahLst/>
              <a:cxnLst/>
              <a:rect r="r" b="b" t="t" l="l"/>
              <a:pathLst>
                <a:path h="21064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89531"/>
                  </a:lnTo>
                  <a:cubicBezTo>
                    <a:pt x="180086" y="2098929"/>
                    <a:pt x="172466" y="2106422"/>
                    <a:pt x="163195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63195" y="2072640"/>
                  </a:lnTo>
                  <a:lnTo>
                    <a:pt x="163195" y="2089531"/>
                  </a:lnTo>
                  <a:lnTo>
                    <a:pt x="146304" y="20895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133856" y="7863840"/>
            <a:ext cx="7863840" cy="512064"/>
            <a:chOff x="0" y="0"/>
            <a:chExt cx="10485120" cy="68275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Gradient clipping = 1.0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028700" y="8452104"/>
            <a:ext cx="7863840" cy="822960"/>
            <a:chOff x="0" y="0"/>
            <a:chExt cx="10485120" cy="10972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104851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Prevents explosion; weight clamping removed as it conflicted with clipping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588503" y="7759703"/>
            <a:ext cx="8255003" cy="1579883"/>
            <a:chOff x="0" y="0"/>
            <a:chExt cx="11006671" cy="210651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16891" y="16891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1006582" cy="2106422"/>
            </a:xfrm>
            <a:custGeom>
              <a:avLst/>
              <a:gdLst/>
              <a:ahLst/>
              <a:cxnLst/>
              <a:rect r="r" b="b" t="t" l="l"/>
              <a:pathLst>
                <a:path h="21064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089531"/>
                  </a:lnTo>
                  <a:cubicBezTo>
                    <a:pt x="11006582" y="2098929"/>
                    <a:pt x="10998962" y="2106422"/>
                    <a:pt x="1098969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0989691" y="2072640"/>
                  </a:lnTo>
                  <a:lnTo>
                    <a:pt x="10989691" y="2089531"/>
                  </a:lnTo>
                  <a:lnTo>
                    <a:pt x="10972800" y="20895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588503" y="7759703"/>
            <a:ext cx="135131" cy="1579883"/>
            <a:chOff x="0" y="0"/>
            <a:chExt cx="180175" cy="210651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16891" y="16891"/>
              <a:ext cx="146304" cy="2072640"/>
            </a:xfrm>
            <a:custGeom>
              <a:avLst/>
              <a:gdLst/>
              <a:ahLst/>
              <a:cxnLst/>
              <a:rect r="r" b="b" t="t" l="l"/>
              <a:pathLst>
                <a:path h="20726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80086" cy="2106422"/>
            </a:xfrm>
            <a:custGeom>
              <a:avLst/>
              <a:gdLst/>
              <a:ahLst/>
              <a:cxnLst/>
              <a:rect r="r" b="b" t="t" l="l"/>
              <a:pathLst>
                <a:path h="21064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089531"/>
                  </a:lnTo>
                  <a:cubicBezTo>
                    <a:pt x="180086" y="2098929"/>
                    <a:pt x="172466" y="2106422"/>
                    <a:pt x="163195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163195" y="2072640"/>
                  </a:lnTo>
                  <a:lnTo>
                    <a:pt x="163195" y="2089531"/>
                  </a:lnTo>
                  <a:lnTo>
                    <a:pt x="146304" y="20895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820656" y="7863840"/>
            <a:ext cx="7863840" cy="512064"/>
            <a:chOff x="0" y="0"/>
            <a:chExt cx="10485120" cy="68275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0485120" cy="682752"/>
            </a:xfrm>
            <a:custGeom>
              <a:avLst/>
              <a:gdLst/>
              <a:ahLst/>
              <a:cxnLst/>
              <a:rect r="r" b="b" t="t" l="l"/>
              <a:pathLst>
                <a:path h="68275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234" r="0" b="-249234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1048512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LR decay 0.95/epoch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820656" y="8412480"/>
            <a:ext cx="7863840" cy="822960"/>
            <a:chOff x="0" y="0"/>
            <a:chExt cx="10485120" cy="109728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485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104851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initialLR=0.001, patience=8 early stopping, dropout=0.3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17460658" y="9282436"/>
            <a:ext cx="223773" cy="515306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253"/>
              </a:lnSpc>
              <a:spcBef>
                <a:spcPct val="0"/>
              </a:spcBef>
            </a:pPr>
            <a:r>
              <a:rPr lang="en-US" sz="30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65760"/>
            <a:ext cx="16459200" cy="1123801"/>
            <a:chOff x="0" y="0"/>
            <a:chExt cx="21945600" cy="1498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57" r="0" b="-2341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 Journey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5943" y="1724663"/>
            <a:ext cx="939803" cy="939803"/>
            <a:chOff x="0" y="0"/>
            <a:chExt cx="1253071" cy="12530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5A5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FF5A5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737360"/>
            <a:ext cx="914400" cy="914400"/>
            <a:chOff x="0" y="0"/>
            <a:chExt cx="121920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3143" y="2639063"/>
            <a:ext cx="25403" cy="720347"/>
            <a:chOff x="0" y="0"/>
            <a:chExt cx="33871" cy="9604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17018"/>
              <a:ext cx="33909" cy="812800"/>
            </a:xfrm>
            <a:custGeom>
              <a:avLst/>
              <a:gdLst/>
              <a:ahLst/>
              <a:cxnLst/>
              <a:rect r="r" b="b" t="t" l="l"/>
              <a:pathLst>
                <a:path h="812800" w="33909">
                  <a:moveTo>
                    <a:pt x="33909" y="236982"/>
                  </a:moveTo>
                  <a:lnTo>
                    <a:pt x="33909" y="338582"/>
                  </a:lnTo>
                  <a:lnTo>
                    <a:pt x="0" y="338582"/>
                  </a:lnTo>
                  <a:lnTo>
                    <a:pt x="0" y="236982"/>
                  </a:lnTo>
                  <a:close/>
                  <a:moveTo>
                    <a:pt x="0" y="474091"/>
                  </a:moveTo>
                  <a:lnTo>
                    <a:pt x="0" y="575691"/>
                  </a:lnTo>
                  <a:lnTo>
                    <a:pt x="0" y="474091"/>
                  </a:lnTo>
                  <a:close/>
                  <a:moveTo>
                    <a:pt x="0" y="711200"/>
                  </a:moveTo>
                  <a:lnTo>
                    <a:pt x="0" y="812800"/>
                  </a:lnTo>
                  <a:lnTo>
                    <a:pt x="0" y="711200"/>
                  </a:lnTo>
                  <a:close/>
                  <a:moveTo>
                    <a:pt x="0" y="0"/>
                  </a:move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AFC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816103" y="1688087"/>
            <a:ext cx="15935963" cy="1342139"/>
            <a:chOff x="0" y="0"/>
            <a:chExt cx="21247951" cy="17895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2121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47863" cy="1789430"/>
            </a:xfrm>
            <a:custGeom>
              <a:avLst/>
              <a:gdLst/>
              <a:ahLst/>
              <a:cxnLst/>
              <a:rect r="r" b="b" t="t" l="l"/>
              <a:pathLst>
                <a:path h="1789430" w="21247863">
                  <a:moveTo>
                    <a:pt x="16891" y="0"/>
                  </a:moveTo>
                  <a:lnTo>
                    <a:pt x="21230971" y="0"/>
                  </a:lnTo>
                  <a:cubicBezTo>
                    <a:pt x="21240369" y="0"/>
                    <a:pt x="21247863" y="7620"/>
                    <a:pt x="21247863" y="16891"/>
                  </a:cubicBezTo>
                  <a:lnTo>
                    <a:pt x="21247863" y="1772539"/>
                  </a:lnTo>
                  <a:cubicBezTo>
                    <a:pt x="21247863" y="1781937"/>
                    <a:pt x="21240243" y="1789430"/>
                    <a:pt x="2123097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1230971" y="1755648"/>
                  </a:lnTo>
                  <a:lnTo>
                    <a:pt x="21230971" y="1772539"/>
                  </a:lnTo>
                  <a:lnTo>
                    <a:pt x="21214080" y="1772539"/>
                  </a:lnTo>
                  <a:lnTo>
                    <a:pt x="21214080" y="16891"/>
                  </a:lnTo>
                  <a:lnTo>
                    <a:pt x="21230971" y="16891"/>
                  </a:lnTo>
                  <a:lnTo>
                    <a:pt x="2123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5A5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048256" y="1810512"/>
            <a:ext cx="4389120" cy="548640"/>
            <a:chOff x="0" y="0"/>
            <a:chExt cx="585216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Baseline: ~48%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48256" y="2395728"/>
            <a:ext cx="15361920" cy="548640"/>
            <a:chOff x="0" y="0"/>
            <a:chExt cx="2048256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482561" cy="731520"/>
            </a:xfrm>
            <a:custGeom>
              <a:avLst/>
              <a:gdLst/>
              <a:ahLst/>
              <a:cxnLst/>
              <a:rect r="r" b="b" t="t" l="l"/>
              <a:pathLst>
                <a:path h="7315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581" r="0" b="-49558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482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Initial training — NaN explosion around epoch 11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35943" y="3334007"/>
            <a:ext cx="939803" cy="939803"/>
            <a:chOff x="0" y="0"/>
            <a:chExt cx="1253071" cy="12530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48640" y="3346704"/>
            <a:ext cx="914400" cy="914400"/>
            <a:chOff x="0" y="0"/>
            <a:chExt cx="121920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3143" y="4248407"/>
            <a:ext cx="25403" cy="720347"/>
            <a:chOff x="0" y="0"/>
            <a:chExt cx="33871" cy="9604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17018"/>
              <a:ext cx="33909" cy="812800"/>
            </a:xfrm>
            <a:custGeom>
              <a:avLst/>
              <a:gdLst/>
              <a:ahLst/>
              <a:cxnLst/>
              <a:rect r="r" b="b" t="t" l="l"/>
              <a:pathLst>
                <a:path h="812800" w="33909">
                  <a:moveTo>
                    <a:pt x="33909" y="236982"/>
                  </a:moveTo>
                  <a:lnTo>
                    <a:pt x="33909" y="338582"/>
                  </a:lnTo>
                  <a:lnTo>
                    <a:pt x="0" y="338582"/>
                  </a:lnTo>
                  <a:lnTo>
                    <a:pt x="0" y="236982"/>
                  </a:lnTo>
                  <a:close/>
                  <a:moveTo>
                    <a:pt x="0" y="474091"/>
                  </a:moveTo>
                  <a:lnTo>
                    <a:pt x="0" y="575691"/>
                  </a:lnTo>
                  <a:lnTo>
                    <a:pt x="0" y="474091"/>
                  </a:lnTo>
                  <a:close/>
                  <a:moveTo>
                    <a:pt x="0" y="711200"/>
                  </a:moveTo>
                  <a:lnTo>
                    <a:pt x="0" y="812800"/>
                  </a:lnTo>
                  <a:lnTo>
                    <a:pt x="0" y="711200"/>
                  </a:lnTo>
                  <a:close/>
                  <a:moveTo>
                    <a:pt x="0" y="0"/>
                  </a:move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AFC5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816103" y="3297431"/>
            <a:ext cx="15935963" cy="1342139"/>
            <a:chOff x="0" y="0"/>
            <a:chExt cx="21247951" cy="178951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6891" y="16891"/>
              <a:ext cx="2121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247863" cy="1789430"/>
            </a:xfrm>
            <a:custGeom>
              <a:avLst/>
              <a:gdLst/>
              <a:ahLst/>
              <a:cxnLst/>
              <a:rect r="r" b="b" t="t" l="l"/>
              <a:pathLst>
                <a:path h="1789430" w="21247863">
                  <a:moveTo>
                    <a:pt x="16891" y="0"/>
                  </a:moveTo>
                  <a:lnTo>
                    <a:pt x="21230971" y="0"/>
                  </a:lnTo>
                  <a:cubicBezTo>
                    <a:pt x="21240369" y="0"/>
                    <a:pt x="21247863" y="7620"/>
                    <a:pt x="21247863" y="16891"/>
                  </a:cubicBezTo>
                  <a:lnTo>
                    <a:pt x="21247863" y="1772539"/>
                  </a:lnTo>
                  <a:cubicBezTo>
                    <a:pt x="21247863" y="1781937"/>
                    <a:pt x="21240243" y="1789430"/>
                    <a:pt x="2123097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1230971" y="1755648"/>
                  </a:lnTo>
                  <a:lnTo>
                    <a:pt x="21230971" y="1772539"/>
                  </a:lnTo>
                  <a:lnTo>
                    <a:pt x="21214080" y="1772539"/>
                  </a:lnTo>
                  <a:lnTo>
                    <a:pt x="21214080" y="16891"/>
                  </a:lnTo>
                  <a:lnTo>
                    <a:pt x="21230971" y="16891"/>
                  </a:lnTo>
                  <a:lnTo>
                    <a:pt x="2123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048256" y="3419856"/>
            <a:ext cx="4389120" cy="548640"/>
            <a:chOff x="0" y="0"/>
            <a:chExt cx="585216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Math Bugs Fixed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048256" y="4005072"/>
            <a:ext cx="15361920" cy="548640"/>
            <a:chOff x="0" y="0"/>
            <a:chExt cx="2048256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482561" cy="731520"/>
            </a:xfrm>
            <a:custGeom>
              <a:avLst/>
              <a:gdLst/>
              <a:ahLst/>
              <a:cxnLst/>
              <a:rect r="r" b="b" t="t" l="l"/>
              <a:pathLst>
                <a:path h="7315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581" r="0" b="-49558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0482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squareRoot() &amp; logarithm() Taylor series had poor initial guesses and insufficient iterations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35943" y="4943351"/>
            <a:ext cx="939803" cy="939803"/>
            <a:chOff x="0" y="0"/>
            <a:chExt cx="1253071" cy="125307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48640" y="4956048"/>
            <a:ext cx="914400" cy="914400"/>
            <a:chOff x="0" y="0"/>
            <a:chExt cx="121920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93143" y="5857751"/>
            <a:ext cx="25403" cy="720347"/>
            <a:chOff x="0" y="0"/>
            <a:chExt cx="33871" cy="96046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17018"/>
              <a:ext cx="33909" cy="812800"/>
            </a:xfrm>
            <a:custGeom>
              <a:avLst/>
              <a:gdLst/>
              <a:ahLst/>
              <a:cxnLst/>
              <a:rect r="r" b="b" t="t" l="l"/>
              <a:pathLst>
                <a:path h="812800" w="33909">
                  <a:moveTo>
                    <a:pt x="33909" y="236982"/>
                  </a:moveTo>
                  <a:lnTo>
                    <a:pt x="33909" y="338582"/>
                  </a:lnTo>
                  <a:lnTo>
                    <a:pt x="0" y="338582"/>
                  </a:lnTo>
                  <a:lnTo>
                    <a:pt x="0" y="236982"/>
                  </a:lnTo>
                  <a:close/>
                  <a:moveTo>
                    <a:pt x="0" y="474091"/>
                  </a:moveTo>
                  <a:lnTo>
                    <a:pt x="0" y="575691"/>
                  </a:lnTo>
                  <a:lnTo>
                    <a:pt x="0" y="474091"/>
                  </a:lnTo>
                  <a:close/>
                  <a:moveTo>
                    <a:pt x="0" y="711200"/>
                  </a:moveTo>
                  <a:lnTo>
                    <a:pt x="0" y="812800"/>
                  </a:lnTo>
                  <a:lnTo>
                    <a:pt x="0" y="711200"/>
                  </a:lnTo>
                  <a:close/>
                  <a:moveTo>
                    <a:pt x="0" y="0"/>
                  </a:move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AFC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816103" y="4906775"/>
            <a:ext cx="15935963" cy="1342139"/>
            <a:chOff x="0" y="0"/>
            <a:chExt cx="21247951" cy="17895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121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247863" cy="1789430"/>
            </a:xfrm>
            <a:custGeom>
              <a:avLst/>
              <a:gdLst/>
              <a:ahLst/>
              <a:cxnLst/>
              <a:rect r="r" b="b" t="t" l="l"/>
              <a:pathLst>
                <a:path h="1789430" w="21247863">
                  <a:moveTo>
                    <a:pt x="16891" y="0"/>
                  </a:moveTo>
                  <a:lnTo>
                    <a:pt x="21230971" y="0"/>
                  </a:lnTo>
                  <a:cubicBezTo>
                    <a:pt x="21240369" y="0"/>
                    <a:pt x="21247863" y="7620"/>
                    <a:pt x="21247863" y="16891"/>
                  </a:cubicBezTo>
                  <a:lnTo>
                    <a:pt x="21247863" y="1772539"/>
                  </a:lnTo>
                  <a:cubicBezTo>
                    <a:pt x="21247863" y="1781937"/>
                    <a:pt x="21240243" y="1789430"/>
                    <a:pt x="2123097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1230971" y="1755648"/>
                  </a:lnTo>
                  <a:lnTo>
                    <a:pt x="21230971" y="1772539"/>
                  </a:lnTo>
                  <a:lnTo>
                    <a:pt x="21214080" y="1772539"/>
                  </a:lnTo>
                  <a:lnTo>
                    <a:pt x="21214080" y="16891"/>
                  </a:lnTo>
                  <a:lnTo>
                    <a:pt x="21230971" y="16891"/>
                  </a:lnTo>
                  <a:lnTo>
                    <a:pt x="2123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048256" y="5029200"/>
            <a:ext cx="4389120" cy="548640"/>
            <a:chOff x="0" y="0"/>
            <a:chExt cx="585216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Gradient Issues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048256" y="5614416"/>
            <a:ext cx="15361920" cy="548640"/>
            <a:chOff x="0" y="0"/>
            <a:chExt cx="204825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482561" cy="731520"/>
            </a:xfrm>
            <a:custGeom>
              <a:avLst/>
              <a:gdLst/>
              <a:ahLst/>
              <a:cxnLst/>
              <a:rect r="r" b="b" t="t" l="l"/>
              <a:pathLst>
                <a:path h="7315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581" r="0" b="-49558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0482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Added zero-division guards, correct 1/k gradient averaging before norm clipping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6552695"/>
            <a:ext cx="939803" cy="939803"/>
            <a:chOff x="0" y="0"/>
            <a:chExt cx="1253071" cy="12530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9B72C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9B72C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48640" y="6565392"/>
            <a:ext cx="914400" cy="914400"/>
            <a:chOff x="0" y="0"/>
            <a:chExt cx="1219200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93143" y="7467095"/>
            <a:ext cx="25403" cy="720347"/>
            <a:chOff x="0" y="0"/>
            <a:chExt cx="33871" cy="96046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17018"/>
              <a:ext cx="33909" cy="812800"/>
            </a:xfrm>
            <a:custGeom>
              <a:avLst/>
              <a:gdLst/>
              <a:ahLst/>
              <a:cxnLst/>
              <a:rect r="r" b="b" t="t" l="l"/>
              <a:pathLst>
                <a:path h="812800" w="33909">
                  <a:moveTo>
                    <a:pt x="33909" y="236982"/>
                  </a:moveTo>
                  <a:lnTo>
                    <a:pt x="33909" y="338582"/>
                  </a:lnTo>
                  <a:lnTo>
                    <a:pt x="0" y="338582"/>
                  </a:lnTo>
                  <a:lnTo>
                    <a:pt x="0" y="236982"/>
                  </a:lnTo>
                  <a:close/>
                  <a:moveTo>
                    <a:pt x="0" y="474091"/>
                  </a:moveTo>
                  <a:lnTo>
                    <a:pt x="0" y="575691"/>
                  </a:lnTo>
                  <a:lnTo>
                    <a:pt x="0" y="474091"/>
                  </a:lnTo>
                  <a:close/>
                  <a:moveTo>
                    <a:pt x="0" y="711200"/>
                  </a:moveTo>
                  <a:lnTo>
                    <a:pt x="0" y="812800"/>
                  </a:lnTo>
                  <a:lnTo>
                    <a:pt x="0" y="711200"/>
                  </a:lnTo>
                  <a:close/>
                  <a:moveTo>
                    <a:pt x="0" y="0"/>
                  </a:move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AFC5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816103" y="6516119"/>
            <a:ext cx="15935963" cy="1342139"/>
            <a:chOff x="0" y="0"/>
            <a:chExt cx="21247951" cy="178951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2121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1247863" cy="1789430"/>
            </a:xfrm>
            <a:custGeom>
              <a:avLst/>
              <a:gdLst/>
              <a:ahLst/>
              <a:cxnLst/>
              <a:rect r="r" b="b" t="t" l="l"/>
              <a:pathLst>
                <a:path h="1789430" w="21247863">
                  <a:moveTo>
                    <a:pt x="16891" y="0"/>
                  </a:moveTo>
                  <a:lnTo>
                    <a:pt x="21230971" y="0"/>
                  </a:lnTo>
                  <a:cubicBezTo>
                    <a:pt x="21240369" y="0"/>
                    <a:pt x="21247863" y="7620"/>
                    <a:pt x="21247863" y="16891"/>
                  </a:cubicBezTo>
                  <a:lnTo>
                    <a:pt x="21247863" y="1772539"/>
                  </a:lnTo>
                  <a:cubicBezTo>
                    <a:pt x="21247863" y="1781937"/>
                    <a:pt x="21240243" y="1789430"/>
                    <a:pt x="2123097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1230971" y="1755648"/>
                  </a:lnTo>
                  <a:lnTo>
                    <a:pt x="21230971" y="1772539"/>
                  </a:lnTo>
                  <a:lnTo>
                    <a:pt x="21214080" y="1772539"/>
                  </a:lnTo>
                  <a:lnTo>
                    <a:pt x="21214080" y="16891"/>
                  </a:lnTo>
                  <a:lnTo>
                    <a:pt x="21230971" y="16891"/>
                  </a:lnTo>
                  <a:lnTo>
                    <a:pt x="2123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72C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2048256" y="6638544"/>
            <a:ext cx="4389120" cy="548640"/>
            <a:chOff x="0" y="0"/>
            <a:chExt cx="585216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 Accumulation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2048256" y="7223760"/>
            <a:ext cx="15361920" cy="548640"/>
            <a:chOff x="0" y="0"/>
            <a:chExt cx="2048256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482561" cy="731520"/>
            </a:xfrm>
            <a:custGeom>
              <a:avLst/>
              <a:gdLst/>
              <a:ahLst/>
              <a:cxnLst/>
              <a:rect r="r" b="b" t="t" l="l"/>
              <a:pathLst>
                <a:path h="7315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581" r="0" b="-49558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0482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Hidden states grew each epoch — training loop structure fixed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35943" y="8162039"/>
            <a:ext cx="939803" cy="939803"/>
            <a:chOff x="0" y="0"/>
            <a:chExt cx="1253071" cy="125307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0C896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00C89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548640" y="8174736"/>
            <a:ext cx="914400" cy="914400"/>
            <a:chOff x="0" y="0"/>
            <a:chExt cx="1219200" cy="12192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816103" y="8125463"/>
            <a:ext cx="15935963" cy="1342139"/>
            <a:chOff x="0" y="0"/>
            <a:chExt cx="21247951" cy="178951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2121408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247863" cy="1789430"/>
            </a:xfrm>
            <a:custGeom>
              <a:avLst/>
              <a:gdLst/>
              <a:ahLst/>
              <a:cxnLst/>
              <a:rect r="r" b="b" t="t" l="l"/>
              <a:pathLst>
                <a:path h="1789430" w="21247863">
                  <a:moveTo>
                    <a:pt x="16891" y="0"/>
                  </a:moveTo>
                  <a:lnTo>
                    <a:pt x="21230971" y="0"/>
                  </a:lnTo>
                  <a:cubicBezTo>
                    <a:pt x="21240369" y="0"/>
                    <a:pt x="21247863" y="7620"/>
                    <a:pt x="21247863" y="16891"/>
                  </a:cubicBezTo>
                  <a:lnTo>
                    <a:pt x="21247863" y="1772539"/>
                  </a:lnTo>
                  <a:cubicBezTo>
                    <a:pt x="21247863" y="1781937"/>
                    <a:pt x="21240243" y="1789430"/>
                    <a:pt x="21230971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1230971" y="1755648"/>
                  </a:lnTo>
                  <a:lnTo>
                    <a:pt x="21230971" y="1772539"/>
                  </a:lnTo>
                  <a:lnTo>
                    <a:pt x="21214080" y="1772539"/>
                  </a:lnTo>
                  <a:lnTo>
                    <a:pt x="21214080" y="16891"/>
                  </a:lnTo>
                  <a:lnTo>
                    <a:pt x="21230971" y="16891"/>
                  </a:lnTo>
                  <a:lnTo>
                    <a:pt x="21230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96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2048256" y="8247888"/>
            <a:ext cx="4389120" cy="548640"/>
            <a:chOff x="0" y="0"/>
            <a:chExt cx="585216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5852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Final: 87.8%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2048256" y="8833104"/>
            <a:ext cx="15361920" cy="548640"/>
            <a:chOff x="0" y="0"/>
            <a:chExt cx="20482560" cy="7315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0482561" cy="731520"/>
            </a:xfrm>
            <a:custGeom>
              <a:avLst/>
              <a:gdLst/>
              <a:ahLst/>
              <a:cxnLst/>
              <a:rect r="r" b="b" t="t" l="l"/>
              <a:pathLst>
                <a:path h="7315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581" r="0" b="-49558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204825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Removed weight clamping, added state clipping, stable training confirmed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7259360" y="9357760"/>
            <a:ext cx="227651" cy="50398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48"/>
              </a:lnSpc>
              <a:spcBef>
                <a:spcPct val="0"/>
              </a:spcBef>
            </a:pPr>
            <a:r>
              <a:rPr lang="en-US" sz="29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06117" y="334791"/>
            <a:ext cx="16459200" cy="1123801"/>
            <a:chOff x="0" y="0"/>
            <a:chExt cx="21945600" cy="1498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57" r="0" b="-2341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Results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06117" y="1620517"/>
            <a:ext cx="5171437" cy="2793997"/>
            <a:chOff x="0" y="0"/>
            <a:chExt cx="6895249" cy="37253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909" y="33909"/>
              <a:ext cx="6827519" cy="3657600"/>
            </a:xfrm>
            <a:custGeom>
              <a:avLst/>
              <a:gdLst/>
              <a:ahLst/>
              <a:cxnLst/>
              <a:rect r="r" b="b" t="t" l="l"/>
              <a:pathLst>
                <a:path h="3657600" w="6827519">
                  <a:moveTo>
                    <a:pt x="0" y="0"/>
                  </a:moveTo>
                  <a:lnTo>
                    <a:pt x="6827519" y="0"/>
                  </a:lnTo>
                  <a:lnTo>
                    <a:pt x="6827519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95338" cy="3725418"/>
            </a:xfrm>
            <a:custGeom>
              <a:avLst/>
              <a:gdLst/>
              <a:ahLst/>
              <a:cxnLst/>
              <a:rect r="r" b="b" t="t" l="l"/>
              <a:pathLst>
                <a:path h="3725418" w="6895338">
                  <a:moveTo>
                    <a:pt x="33909" y="0"/>
                  </a:moveTo>
                  <a:lnTo>
                    <a:pt x="6861428" y="0"/>
                  </a:lnTo>
                  <a:cubicBezTo>
                    <a:pt x="6880098" y="0"/>
                    <a:pt x="6895338" y="15113"/>
                    <a:pt x="6895338" y="33909"/>
                  </a:cubicBezTo>
                  <a:lnTo>
                    <a:pt x="6895338" y="3691509"/>
                  </a:lnTo>
                  <a:cubicBezTo>
                    <a:pt x="6895338" y="3710178"/>
                    <a:pt x="6880225" y="3725418"/>
                    <a:pt x="6861428" y="3725418"/>
                  </a:cubicBezTo>
                  <a:lnTo>
                    <a:pt x="33909" y="3725418"/>
                  </a:lnTo>
                  <a:cubicBezTo>
                    <a:pt x="15240" y="3725418"/>
                    <a:pt x="0" y="3710305"/>
                    <a:pt x="0" y="369150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691509"/>
                  </a:lnTo>
                  <a:lnTo>
                    <a:pt x="33909" y="3691509"/>
                  </a:lnTo>
                  <a:lnTo>
                    <a:pt x="33909" y="3657600"/>
                  </a:lnTo>
                  <a:lnTo>
                    <a:pt x="6861428" y="3657600"/>
                  </a:lnTo>
                  <a:lnTo>
                    <a:pt x="6861428" y="3691509"/>
                  </a:lnTo>
                  <a:lnTo>
                    <a:pt x="6827520" y="3691509"/>
                  </a:lnTo>
                  <a:lnTo>
                    <a:pt x="6827520" y="33909"/>
                  </a:lnTo>
                  <a:lnTo>
                    <a:pt x="6861428" y="33909"/>
                  </a:lnTo>
                  <a:lnTo>
                    <a:pt x="6861428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737360"/>
            <a:ext cx="5120640" cy="1853729"/>
            <a:chOff x="0" y="0"/>
            <a:chExt cx="6827520" cy="24716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2471638"/>
            </a:xfrm>
            <a:custGeom>
              <a:avLst/>
              <a:gdLst/>
              <a:ahLst/>
              <a:cxnLst/>
              <a:rect r="r" b="b" t="t" l="l"/>
              <a:pathLst>
                <a:path h="247163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471638"/>
                  </a:lnTo>
                  <a:lnTo>
                    <a:pt x="0" y="24716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95" r="0" b="424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80975"/>
              <a:ext cx="6827520" cy="2652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040"/>
                </a:lnSpc>
              </a:pPr>
              <a:r>
                <a:rPr lang="en-US" b="true" sz="9200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87.8%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3328416"/>
            <a:ext cx="5120640" cy="914400"/>
            <a:chOff x="0" y="0"/>
            <a:chExt cx="682752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7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6" r="0" b="-5911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82752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Overall Accuracy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14,137 test samples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0" y="1737360"/>
            <a:ext cx="2011680" cy="950976"/>
            <a:chOff x="0" y="0"/>
            <a:chExt cx="2682240" cy="12679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822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52" t="0" r="-1065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68224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Benign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491223" y="1870967"/>
            <a:ext cx="8803643" cy="683771"/>
            <a:chOff x="0" y="0"/>
            <a:chExt cx="11738191" cy="9116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1704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2E4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38101" cy="911608"/>
            </a:xfrm>
            <a:custGeom>
              <a:avLst/>
              <a:gdLst/>
              <a:ahLst/>
              <a:cxnLst/>
              <a:rect r="r" b="b" t="t" l="l"/>
              <a:pathLst>
                <a:path h="911608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894715"/>
                  </a:lnTo>
                  <a:cubicBezTo>
                    <a:pt x="11738101" y="904113"/>
                    <a:pt x="11730482" y="911606"/>
                    <a:pt x="1172121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721211" y="877824"/>
                  </a:lnTo>
                  <a:lnTo>
                    <a:pt x="11721211" y="894715"/>
                  </a:lnTo>
                  <a:lnTo>
                    <a:pt x="11704320" y="894715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4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491223" y="1870967"/>
            <a:ext cx="8057493" cy="683771"/>
            <a:chOff x="0" y="0"/>
            <a:chExt cx="10743324" cy="9116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709529" cy="877824"/>
            </a:xfrm>
            <a:custGeom>
              <a:avLst/>
              <a:gdLst/>
              <a:ahLst/>
              <a:cxnLst/>
              <a:rect r="r" b="b" t="t" l="l"/>
              <a:pathLst>
                <a:path h="877824" w="10709529">
                  <a:moveTo>
                    <a:pt x="0" y="0"/>
                  </a:moveTo>
                  <a:lnTo>
                    <a:pt x="10709529" y="0"/>
                  </a:lnTo>
                  <a:lnTo>
                    <a:pt x="10709529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0C896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43311" cy="911608"/>
            </a:xfrm>
            <a:custGeom>
              <a:avLst/>
              <a:gdLst/>
              <a:ahLst/>
              <a:cxnLst/>
              <a:rect r="r" b="b" t="t" l="l"/>
              <a:pathLst>
                <a:path h="911608" w="10743311">
                  <a:moveTo>
                    <a:pt x="16891" y="0"/>
                  </a:moveTo>
                  <a:lnTo>
                    <a:pt x="10726420" y="0"/>
                  </a:lnTo>
                  <a:cubicBezTo>
                    <a:pt x="10735818" y="0"/>
                    <a:pt x="10743311" y="7620"/>
                    <a:pt x="10743311" y="16891"/>
                  </a:cubicBezTo>
                  <a:lnTo>
                    <a:pt x="10743311" y="894715"/>
                  </a:lnTo>
                  <a:cubicBezTo>
                    <a:pt x="10743311" y="904113"/>
                    <a:pt x="10735690" y="911606"/>
                    <a:pt x="10726420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726420" y="877824"/>
                  </a:lnTo>
                  <a:lnTo>
                    <a:pt x="10726420" y="894715"/>
                  </a:lnTo>
                  <a:lnTo>
                    <a:pt x="10709528" y="894715"/>
                  </a:lnTo>
                  <a:lnTo>
                    <a:pt x="10709528" y="16891"/>
                  </a:lnTo>
                  <a:lnTo>
                    <a:pt x="10726420" y="16891"/>
                  </a:lnTo>
                  <a:lnTo>
                    <a:pt x="1072642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C89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465040" y="1737360"/>
            <a:ext cx="1280160" cy="950976"/>
            <a:chOff x="0" y="0"/>
            <a:chExt cx="1706880" cy="12679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68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7068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91.4%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00800" y="3090672"/>
            <a:ext cx="2011680" cy="950976"/>
            <a:chOff x="0" y="0"/>
            <a:chExt cx="2682240" cy="1267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822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52" t="0" r="-1065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68224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DGA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491223" y="3224279"/>
            <a:ext cx="8803643" cy="683771"/>
            <a:chOff x="0" y="0"/>
            <a:chExt cx="11738191" cy="9116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1704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2E4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738101" cy="911608"/>
            </a:xfrm>
            <a:custGeom>
              <a:avLst/>
              <a:gdLst/>
              <a:ahLst/>
              <a:cxnLst/>
              <a:rect r="r" b="b" t="t" l="l"/>
              <a:pathLst>
                <a:path h="911608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894715"/>
                  </a:lnTo>
                  <a:cubicBezTo>
                    <a:pt x="11738101" y="904113"/>
                    <a:pt x="11730482" y="911606"/>
                    <a:pt x="1172121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721211" y="877824"/>
                  </a:lnTo>
                  <a:lnTo>
                    <a:pt x="11721211" y="894715"/>
                  </a:lnTo>
                  <a:lnTo>
                    <a:pt x="11704320" y="894715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4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91223" y="3224279"/>
            <a:ext cx="7925819" cy="683771"/>
            <a:chOff x="0" y="0"/>
            <a:chExt cx="10567759" cy="91169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533888" cy="877824"/>
            </a:xfrm>
            <a:custGeom>
              <a:avLst/>
              <a:gdLst/>
              <a:ahLst/>
              <a:cxnLst/>
              <a:rect r="r" b="b" t="t" l="l"/>
              <a:pathLst>
                <a:path h="877824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67670" cy="911608"/>
            </a:xfrm>
            <a:custGeom>
              <a:avLst/>
              <a:gdLst/>
              <a:ahLst/>
              <a:cxnLst/>
              <a:rect r="r" b="b" t="t" l="l"/>
              <a:pathLst>
                <a:path h="91160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894715"/>
                  </a:lnTo>
                  <a:cubicBezTo>
                    <a:pt x="10567670" y="904113"/>
                    <a:pt x="10560050" y="911606"/>
                    <a:pt x="10550779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0550779" y="877824"/>
                  </a:lnTo>
                  <a:lnTo>
                    <a:pt x="10550779" y="894715"/>
                  </a:lnTo>
                  <a:lnTo>
                    <a:pt x="10533888" y="894715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7465040" y="3090672"/>
            <a:ext cx="1280160" cy="950976"/>
            <a:chOff x="0" y="0"/>
            <a:chExt cx="1706880" cy="12679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7068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89.9</a:t>
              </a:r>
              <a:r>
                <a:rPr lang="en-US" b="true" sz="2400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400800" y="4443984"/>
            <a:ext cx="2011680" cy="950976"/>
            <a:chOff x="0" y="0"/>
            <a:chExt cx="2682240" cy="12679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822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52" t="0" r="-1065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68224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Phishing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491223" y="4577591"/>
            <a:ext cx="8803643" cy="683771"/>
            <a:chOff x="0" y="0"/>
            <a:chExt cx="11738191" cy="91169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1704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2E4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738101" cy="911608"/>
            </a:xfrm>
            <a:custGeom>
              <a:avLst/>
              <a:gdLst/>
              <a:ahLst/>
              <a:cxnLst/>
              <a:rect r="r" b="b" t="t" l="l"/>
              <a:pathLst>
                <a:path h="911608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894715"/>
                  </a:lnTo>
                  <a:cubicBezTo>
                    <a:pt x="11738101" y="904113"/>
                    <a:pt x="11730482" y="911606"/>
                    <a:pt x="1172121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721211" y="877824"/>
                  </a:lnTo>
                  <a:lnTo>
                    <a:pt x="11721211" y="894715"/>
                  </a:lnTo>
                  <a:lnTo>
                    <a:pt x="11704320" y="894715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4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491223" y="4577591"/>
            <a:ext cx="6881203" cy="683771"/>
            <a:chOff x="0" y="0"/>
            <a:chExt cx="9174937" cy="9116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9141079" cy="877824"/>
            </a:xfrm>
            <a:custGeom>
              <a:avLst/>
              <a:gdLst/>
              <a:ahLst/>
              <a:cxnLst/>
              <a:rect r="r" b="b" t="t" l="l"/>
              <a:pathLst>
                <a:path h="877824" w="9141079">
                  <a:moveTo>
                    <a:pt x="0" y="0"/>
                  </a:moveTo>
                  <a:lnTo>
                    <a:pt x="9141079" y="0"/>
                  </a:lnTo>
                  <a:lnTo>
                    <a:pt x="9141079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74861" cy="911608"/>
            </a:xfrm>
            <a:custGeom>
              <a:avLst/>
              <a:gdLst/>
              <a:ahLst/>
              <a:cxnLst/>
              <a:rect r="r" b="b" t="t" l="l"/>
              <a:pathLst>
                <a:path h="911608" w="9174861">
                  <a:moveTo>
                    <a:pt x="16891" y="0"/>
                  </a:moveTo>
                  <a:lnTo>
                    <a:pt x="9157970" y="0"/>
                  </a:lnTo>
                  <a:cubicBezTo>
                    <a:pt x="9167368" y="0"/>
                    <a:pt x="9174861" y="7620"/>
                    <a:pt x="9174861" y="16891"/>
                  </a:cubicBezTo>
                  <a:lnTo>
                    <a:pt x="9174861" y="894715"/>
                  </a:lnTo>
                  <a:cubicBezTo>
                    <a:pt x="9174861" y="904113"/>
                    <a:pt x="9167240" y="911606"/>
                    <a:pt x="9157970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9157970" y="877824"/>
                  </a:lnTo>
                  <a:lnTo>
                    <a:pt x="9157970" y="894715"/>
                  </a:lnTo>
                  <a:lnTo>
                    <a:pt x="9141078" y="894715"/>
                  </a:lnTo>
                  <a:lnTo>
                    <a:pt x="9141078" y="16891"/>
                  </a:lnTo>
                  <a:lnTo>
                    <a:pt x="9157970" y="16891"/>
                  </a:lnTo>
                  <a:lnTo>
                    <a:pt x="915797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7465040" y="4443984"/>
            <a:ext cx="1280160" cy="950976"/>
            <a:chOff x="0" y="0"/>
            <a:chExt cx="1706880" cy="12679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068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7068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78.1%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400800" y="5797296"/>
            <a:ext cx="2011680" cy="950976"/>
            <a:chOff x="0" y="0"/>
            <a:chExt cx="2682240" cy="12679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822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52" t="0" r="-1065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68224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Tunneling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491223" y="5930903"/>
            <a:ext cx="8803643" cy="683771"/>
            <a:chOff x="0" y="0"/>
            <a:chExt cx="11738191" cy="91169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1704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2E4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738101" cy="911608"/>
            </a:xfrm>
            <a:custGeom>
              <a:avLst/>
              <a:gdLst/>
              <a:ahLst/>
              <a:cxnLst/>
              <a:rect r="r" b="b" t="t" l="l"/>
              <a:pathLst>
                <a:path h="911608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894715"/>
                  </a:lnTo>
                  <a:cubicBezTo>
                    <a:pt x="11738101" y="904113"/>
                    <a:pt x="11730482" y="911606"/>
                    <a:pt x="1172121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721211" y="877824"/>
                  </a:lnTo>
                  <a:lnTo>
                    <a:pt x="11721211" y="894715"/>
                  </a:lnTo>
                  <a:lnTo>
                    <a:pt x="11704320" y="894715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4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491223" y="5930903"/>
            <a:ext cx="8391058" cy="683771"/>
            <a:chOff x="0" y="0"/>
            <a:chExt cx="11188078" cy="91169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1154283" cy="877824"/>
            </a:xfrm>
            <a:custGeom>
              <a:avLst/>
              <a:gdLst/>
              <a:ahLst/>
              <a:cxnLst/>
              <a:rect r="r" b="b" t="t" l="l"/>
              <a:pathLst>
                <a:path h="877824" w="11154283">
                  <a:moveTo>
                    <a:pt x="0" y="0"/>
                  </a:moveTo>
                  <a:lnTo>
                    <a:pt x="11154283" y="0"/>
                  </a:lnTo>
                  <a:lnTo>
                    <a:pt x="11154283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9B72C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188065" cy="911608"/>
            </a:xfrm>
            <a:custGeom>
              <a:avLst/>
              <a:gdLst/>
              <a:ahLst/>
              <a:cxnLst/>
              <a:rect r="r" b="b" t="t" l="l"/>
              <a:pathLst>
                <a:path h="911608" w="11188065">
                  <a:moveTo>
                    <a:pt x="16891" y="0"/>
                  </a:moveTo>
                  <a:lnTo>
                    <a:pt x="11171174" y="0"/>
                  </a:lnTo>
                  <a:cubicBezTo>
                    <a:pt x="11180572" y="0"/>
                    <a:pt x="11188065" y="7620"/>
                    <a:pt x="11188065" y="16891"/>
                  </a:cubicBezTo>
                  <a:lnTo>
                    <a:pt x="11188065" y="894715"/>
                  </a:lnTo>
                  <a:cubicBezTo>
                    <a:pt x="11188065" y="904113"/>
                    <a:pt x="11180445" y="911606"/>
                    <a:pt x="11171174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171174" y="877824"/>
                  </a:lnTo>
                  <a:lnTo>
                    <a:pt x="11171174" y="894715"/>
                  </a:lnTo>
                  <a:lnTo>
                    <a:pt x="11154283" y="894715"/>
                  </a:lnTo>
                  <a:lnTo>
                    <a:pt x="11154283" y="16891"/>
                  </a:lnTo>
                  <a:lnTo>
                    <a:pt x="11171174" y="16891"/>
                  </a:lnTo>
                  <a:lnTo>
                    <a:pt x="1117117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B72C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7465040" y="5797296"/>
            <a:ext cx="1280160" cy="950976"/>
            <a:chOff x="0" y="0"/>
            <a:chExt cx="1706880" cy="12679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068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7068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95.2%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400800" y="7150608"/>
            <a:ext cx="2011680" cy="950976"/>
            <a:chOff x="0" y="0"/>
            <a:chExt cx="2682240" cy="12679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6822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52" t="0" r="-1065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68224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491223" y="7284215"/>
            <a:ext cx="8803643" cy="683771"/>
            <a:chOff x="0" y="0"/>
            <a:chExt cx="11738191" cy="9116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1704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1A2E40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738101" cy="911608"/>
            </a:xfrm>
            <a:custGeom>
              <a:avLst/>
              <a:gdLst/>
              <a:ahLst/>
              <a:cxnLst/>
              <a:rect r="r" b="b" t="t" l="l"/>
              <a:pathLst>
                <a:path h="911608" w="11738101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894715"/>
                  </a:lnTo>
                  <a:cubicBezTo>
                    <a:pt x="11738101" y="904113"/>
                    <a:pt x="11730482" y="911606"/>
                    <a:pt x="11721211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721211" y="877824"/>
                  </a:lnTo>
                  <a:lnTo>
                    <a:pt x="11721211" y="894715"/>
                  </a:lnTo>
                  <a:lnTo>
                    <a:pt x="11704320" y="894715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E4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8491223" y="7284215"/>
            <a:ext cx="8391058" cy="683771"/>
            <a:chOff x="0" y="0"/>
            <a:chExt cx="11188078" cy="9116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1154283" cy="877824"/>
            </a:xfrm>
            <a:custGeom>
              <a:avLst/>
              <a:gdLst/>
              <a:ahLst/>
              <a:cxnLst/>
              <a:rect r="r" b="b" t="t" l="l"/>
              <a:pathLst>
                <a:path h="877824" w="11154283">
                  <a:moveTo>
                    <a:pt x="0" y="0"/>
                  </a:moveTo>
                  <a:lnTo>
                    <a:pt x="11154283" y="0"/>
                  </a:lnTo>
                  <a:lnTo>
                    <a:pt x="11154283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F5A5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188065" cy="911608"/>
            </a:xfrm>
            <a:custGeom>
              <a:avLst/>
              <a:gdLst/>
              <a:ahLst/>
              <a:cxnLst/>
              <a:rect r="r" b="b" t="t" l="l"/>
              <a:pathLst>
                <a:path h="911608" w="11188065">
                  <a:moveTo>
                    <a:pt x="16891" y="0"/>
                  </a:moveTo>
                  <a:lnTo>
                    <a:pt x="11171174" y="0"/>
                  </a:lnTo>
                  <a:cubicBezTo>
                    <a:pt x="11180572" y="0"/>
                    <a:pt x="11188065" y="7620"/>
                    <a:pt x="11188065" y="16891"/>
                  </a:cubicBezTo>
                  <a:lnTo>
                    <a:pt x="11188065" y="894715"/>
                  </a:lnTo>
                  <a:cubicBezTo>
                    <a:pt x="11188065" y="904113"/>
                    <a:pt x="11180445" y="911606"/>
                    <a:pt x="11171174" y="911606"/>
                  </a:cubicBezTo>
                  <a:lnTo>
                    <a:pt x="16891" y="911606"/>
                  </a:lnTo>
                  <a:cubicBezTo>
                    <a:pt x="7620" y="911733"/>
                    <a:pt x="0" y="904113"/>
                    <a:pt x="0" y="8947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94715"/>
                  </a:lnTo>
                  <a:lnTo>
                    <a:pt x="16891" y="894715"/>
                  </a:lnTo>
                  <a:lnTo>
                    <a:pt x="16891" y="877824"/>
                  </a:lnTo>
                  <a:lnTo>
                    <a:pt x="11171174" y="877824"/>
                  </a:lnTo>
                  <a:lnTo>
                    <a:pt x="11171174" y="894715"/>
                  </a:lnTo>
                  <a:lnTo>
                    <a:pt x="11154283" y="894715"/>
                  </a:lnTo>
                  <a:lnTo>
                    <a:pt x="11154283" y="16891"/>
                  </a:lnTo>
                  <a:lnTo>
                    <a:pt x="11171174" y="16891"/>
                  </a:lnTo>
                  <a:lnTo>
                    <a:pt x="1117117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5A5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7465040" y="7150608"/>
            <a:ext cx="1280160" cy="950976"/>
            <a:chOff x="0" y="0"/>
            <a:chExt cx="1706880" cy="126796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7068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311" t="0" r="-45311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70688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95.3%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18823" y="8216903"/>
            <a:ext cx="16850363" cy="1305563"/>
            <a:chOff x="0" y="0"/>
            <a:chExt cx="22467151" cy="174075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224332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467063" cy="1740662"/>
            </a:xfrm>
            <a:custGeom>
              <a:avLst/>
              <a:gdLst/>
              <a:ahLst/>
              <a:cxnLst/>
              <a:rect r="r" b="b" t="t" l="l"/>
              <a:pathLst>
                <a:path h="174066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723771"/>
                  </a:lnTo>
                  <a:cubicBezTo>
                    <a:pt x="22467063" y="1733169"/>
                    <a:pt x="22459443" y="1740662"/>
                    <a:pt x="22450171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2450171" y="1706880"/>
                  </a:lnTo>
                  <a:lnTo>
                    <a:pt x="22450171" y="1723771"/>
                  </a:lnTo>
                  <a:lnTo>
                    <a:pt x="22433280" y="172377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05840" y="8302752"/>
            <a:ext cx="16276320" cy="1097280"/>
            <a:chOff x="0" y="0"/>
            <a:chExt cx="21701760" cy="14630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70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01761">
                  <a:moveTo>
                    <a:pt x="0" y="0"/>
                  </a:moveTo>
                  <a:lnTo>
                    <a:pt x="21701761" y="0"/>
                  </a:lnTo>
                  <a:lnTo>
                    <a:pt x="2170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028" r="0" b="-23902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217017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  Phishing (78.1%) is the weakest class — confused with Benign and DGA due to overlapping domain patterns. All other classes exceed 90%.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7823734" y="9182142"/>
            <a:ext cx="281386" cy="641949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5251"/>
              </a:lnSpc>
              <a:spcBef>
                <a:spcPct val="0"/>
              </a:spcBef>
            </a:pPr>
            <a:r>
              <a:rPr lang="en-US" sz="37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65760"/>
            <a:ext cx="16459200" cy="1097280"/>
            <a:chOff x="0" y="0"/>
            <a:chExt cx="219456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b="true" sz="5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C++ vs PyTorch LSTM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839463" y="1633223"/>
            <a:ext cx="5146043" cy="848363"/>
            <a:chOff x="0" y="0"/>
            <a:chExt cx="6861391" cy="1131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613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114171"/>
                  </a:lnTo>
                  <a:cubicBezTo>
                    <a:pt x="6861301" y="1123569"/>
                    <a:pt x="6853682" y="1131062"/>
                    <a:pt x="68444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844411" y="1097280"/>
                  </a:lnTo>
                  <a:lnTo>
                    <a:pt x="6844411" y="1114171"/>
                  </a:lnTo>
                  <a:lnTo>
                    <a:pt x="6827520" y="111417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864866" y="1633223"/>
            <a:ext cx="5120640" cy="822960"/>
            <a:chOff x="0" y="0"/>
            <a:chExt cx="682752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8275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 C++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42983" y="1633223"/>
            <a:ext cx="5146043" cy="848363"/>
            <a:chOff x="0" y="0"/>
            <a:chExt cx="6861391" cy="11311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61301" cy="1131064"/>
            </a:xfrm>
            <a:custGeom>
              <a:avLst/>
              <a:gdLst/>
              <a:ahLst/>
              <a:cxnLst/>
              <a:rect r="r" b="b" t="t" l="l"/>
              <a:pathLst>
                <a:path h="1131064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114171"/>
                  </a:lnTo>
                  <a:cubicBezTo>
                    <a:pt x="6861301" y="1123569"/>
                    <a:pt x="6853682" y="1131062"/>
                    <a:pt x="68444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6844411" y="1097280"/>
                  </a:lnTo>
                  <a:lnTo>
                    <a:pt x="6844411" y="1114171"/>
                  </a:lnTo>
                  <a:lnTo>
                    <a:pt x="6827520" y="111417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168386" y="1645925"/>
            <a:ext cx="5120640" cy="822960"/>
            <a:chOff x="0" y="0"/>
            <a:chExt cx="682752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8275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PyTorch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5167" y="2645407"/>
            <a:ext cx="16837657" cy="963673"/>
            <a:chOff x="0" y="0"/>
            <a:chExt cx="22450209" cy="12848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8509" y="8509"/>
              <a:ext cx="22433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450298" cy="1284986"/>
            </a:xfrm>
            <a:custGeom>
              <a:avLst/>
              <a:gdLst/>
              <a:ahLst/>
              <a:cxnLst/>
              <a:rect r="r" b="b" t="t" l="l"/>
              <a:pathLst>
                <a:path h="1284986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276477"/>
                  </a:lnTo>
                  <a:cubicBezTo>
                    <a:pt x="22450298" y="1281176"/>
                    <a:pt x="22446489" y="1284986"/>
                    <a:pt x="22441790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22441790" y="1267968"/>
                  </a:lnTo>
                  <a:lnTo>
                    <a:pt x="22441790" y="1276477"/>
                  </a:lnTo>
                  <a:lnTo>
                    <a:pt x="22433280" y="1276477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2651760"/>
            <a:ext cx="4754880" cy="950976"/>
            <a:chOff x="0" y="0"/>
            <a:chExt cx="6339840" cy="12679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3984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Benign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852160" y="2651760"/>
            <a:ext cx="5120640" cy="950976"/>
            <a:chOff x="0" y="0"/>
            <a:chExt cx="6827520" cy="12679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82752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91.4%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639854" y="2651760"/>
            <a:ext cx="5120640" cy="950976"/>
            <a:chOff x="0" y="0"/>
            <a:chExt cx="6827520" cy="1267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82752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89.9%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779744" y="2658361"/>
            <a:ext cx="1188720" cy="950976"/>
            <a:chOff x="0" y="0"/>
            <a:chExt cx="1584960" cy="12679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84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5849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-1.6%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25167" y="3742687"/>
            <a:ext cx="16837657" cy="963673"/>
            <a:chOff x="0" y="0"/>
            <a:chExt cx="22450209" cy="128489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8509"/>
              <a:ext cx="22433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450298" cy="1284986"/>
            </a:xfrm>
            <a:custGeom>
              <a:avLst/>
              <a:gdLst/>
              <a:ahLst/>
              <a:cxnLst/>
              <a:rect r="r" b="b" t="t" l="l"/>
              <a:pathLst>
                <a:path h="1284986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276477"/>
                  </a:lnTo>
                  <a:cubicBezTo>
                    <a:pt x="22450298" y="1281176"/>
                    <a:pt x="22446489" y="1284986"/>
                    <a:pt x="22441790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22441790" y="1267968"/>
                  </a:lnTo>
                  <a:lnTo>
                    <a:pt x="22441790" y="1276477"/>
                  </a:lnTo>
                  <a:lnTo>
                    <a:pt x="22433280" y="1276477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3749040"/>
            <a:ext cx="4754880" cy="950976"/>
            <a:chOff x="0" y="0"/>
            <a:chExt cx="6339840" cy="12679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39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33984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DGA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852160" y="3749040"/>
            <a:ext cx="5120640" cy="950976"/>
            <a:chOff x="0" y="0"/>
            <a:chExt cx="6827520" cy="12679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82752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89.9%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639854" y="3660391"/>
            <a:ext cx="5120640" cy="950976"/>
            <a:chOff x="0" y="0"/>
            <a:chExt cx="6827520" cy="12679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82752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80.5%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848921" y="3742687"/>
            <a:ext cx="1188720" cy="950976"/>
            <a:chOff x="0" y="0"/>
            <a:chExt cx="1584960" cy="12679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84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5849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-9.5%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25167" y="4839967"/>
            <a:ext cx="16837657" cy="963673"/>
            <a:chOff x="0" y="0"/>
            <a:chExt cx="22450209" cy="128489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22433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450298" cy="1284986"/>
            </a:xfrm>
            <a:custGeom>
              <a:avLst/>
              <a:gdLst/>
              <a:ahLst/>
              <a:cxnLst/>
              <a:rect r="r" b="b" t="t" l="l"/>
              <a:pathLst>
                <a:path h="1284986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276477"/>
                  </a:lnTo>
                  <a:cubicBezTo>
                    <a:pt x="22450298" y="1281176"/>
                    <a:pt x="22446489" y="1284986"/>
                    <a:pt x="22441790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22441790" y="1267968"/>
                  </a:lnTo>
                  <a:lnTo>
                    <a:pt x="22441790" y="1276477"/>
                  </a:lnTo>
                  <a:lnTo>
                    <a:pt x="22433280" y="1276477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4846320"/>
            <a:ext cx="4754880" cy="950976"/>
            <a:chOff x="0" y="0"/>
            <a:chExt cx="6339840" cy="12679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39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33984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Phishing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852160" y="4846320"/>
            <a:ext cx="5120640" cy="950976"/>
            <a:chOff x="0" y="0"/>
            <a:chExt cx="6827520" cy="126796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82752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78.1%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639854" y="4763510"/>
            <a:ext cx="5120640" cy="950976"/>
            <a:chOff x="0" y="0"/>
            <a:chExt cx="6827520" cy="12679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82752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77.0%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848921" y="4839710"/>
            <a:ext cx="1188720" cy="950976"/>
            <a:chOff x="0" y="0"/>
            <a:chExt cx="1584960" cy="12679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84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5849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-1.1%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25167" y="5937247"/>
            <a:ext cx="16837657" cy="963673"/>
            <a:chOff x="0" y="0"/>
            <a:chExt cx="22450209" cy="128489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22433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450298" cy="1284986"/>
            </a:xfrm>
            <a:custGeom>
              <a:avLst/>
              <a:gdLst/>
              <a:ahLst/>
              <a:cxnLst/>
              <a:rect r="r" b="b" t="t" l="l"/>
              <a:pathLst>
                <a:path h="1284986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276477"/>
                  </a:lnTo>
                  <a:cubicBezTo>
                    <a:pt x="22450298" y="1281176"/>
                    <a:pt x="22446489" y="1284986"/>
                    <a:pt x="22441790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22441790" y="1267968"/>
                  </a:lnTo>
                  <a:lnTo>
                    <a:pt x="22441790" y="1276477"/>
                  </a:lnTo>
                  <a:lnTo>
                    <a:pt x="22433280" y="1276477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14400" y="5943600"/>
            <a:ext cx="4754880" cy="950976"/>
            <a:chOff x="0" y="0"/>
            <a:chExt cx="6339840" cy="126796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339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33984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Tunneling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852160" y="5943600"/>
            <a:ext cx="5120640" cy="950976"/>
            <a:chOff x="0" y="0"/>
            <a:chExt cx="6827520" cy="126796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82752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95.2%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639854" y="5949944"/>
            <a:ext cx="5120640" cy="950976"/>
            <a:chOff x="0" y="0"/>
            <a:chExt cx="6827520" cy="126796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82752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94.5%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848921" y="5936990"/>
            <a:ext cx="1188720" cy="950976"/>
            <a:chOff x="0" y="0"/>
            <a:chExt cx="1584960" cy="12679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584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5849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-0.8%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25167" y="7034527"/>
            <a:ext cx="16837657" cy="963673"/>
            <a:chOff x="0" y="0"/>
            <a:chExt cx="22450209" cy="128489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8509" y="8509"/>
              <a:ext cx="22433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450298" cy="1284986"/>
            </a:xfrm>
            <a:custGeom>
              <a:avLst/>
              <a:gdLst/>
              <a:ahLst/>
              <a:cxnLst/>
              <a:rect r="r" b="b" t="t" l="l"/>
              <a:pathLst>
                <a:path h="1284986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276477"/>
                  </a:lnTo>
                  <a:cubicBezTo>
                    <a:pt x="22450298" y="1281176"/>
                    <a:pt x="22446489" y="1284986"/>
                    <a:pt x="22441790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22441790" y="1267968"/>
                  </a:lnTo>
                  <a:lnTo>
                    <a:pt x="22441790" y="1276477"/>
                  </a:lnTo>
                  <a:lnTo>
                    <a:pt x="22433280" y="1276477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14400" y="7040880"/>
            <a:ext cx="4754880" cy="950976"/>
            <a:chOff x="0" y="0"/>
            <a:chExt cx="6339840" cy="126796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339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33984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852160" y="7040880"/>
            <a:ext cx="5120640" cy="950976"/>
            <a:chOff x="0" y="0"/>
            <a:chExt cx="6827520" cy="12679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682752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95.3%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728281" y="7034270"/>
            <a:ext cx="5120640" cy="950976"/>
            <a:chOff x="0" y="0"/>
            <a:chExt cx="6827520" cy="126796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82752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95.3%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848921" y="7034270"/>
            <a:ext cx="1188720" cy="950976"/>
            <a:chOff x="0" y="0"/>
            <a:chExt cx="1584960" cy="126796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584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5849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0.0%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725167" y="8131807"/>
            <a:ext cx="16837657" cy="963673"/>
            <a:chOff x="0" y="0"/>
            <a:chExt cx="22450209" cy="128489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8509" y="8509"/>
              <a:ext cx="22433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450298" cy="1284986"/>
            </a:xfrm>
            <a:custGeom>
              <a:avLst/>
              <a:gdLst/>
              <a:ahLst/>
              <a:cxnLst/>
              <a:rect r="r" b="b" t="t" l="l"/>
              <a:pathLst>
                <a:path h="1284986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276477"/>
                  </a:lnTo>
                  <a:cubicBezTo>
                    <a:pt x="22450298" y="1281176"/>
                    <a:pt x="22446489" y="1284986"/>
                    <a:pt x="22441790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22441790" y="1267968"/>
                  </a:lnTo>
                  <a:lnTo>
                    <a:pt x="22441790" y="1276477"/>
                  </a:lnTo>
                  <a:lnTo>
                    <a:pt x="22433280" y="1276477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14400" y="8138160"/>
            <a:ext cx="4754880" cy="950976"/>
            <a:chOff x="0" y="0"/>
            <a:chExt cx="6339840" cy="126796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33984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6339840" cy="1325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OVERALL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852160" y="8138160"/>
            <a:ext cx="5120640" cy="950976"/>
            <a:chOff x="0" y="0"/>
            <a:chExt cx="6827520" cy="126796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682752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87.8%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728281" y="8064875"/>
            <a:ext cx="5120640" cy="950976"/>
            <a:chOff x="0" y="0"/>
            <a:chExt cx="6827520" cy="126796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682752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82.4%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5848921" y="8131550"/>
            <a:ext cx="1188720" cy="950976"/>
            <a:chOff x="0" y="0"/>
            <a:chExt cx="1584960" cy="126796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5849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58496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40"/>
                </a:lnSpc>
              </a:pPr>
              <a:r>
                <a:rPr lang="en-US" sz="22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-5.5%</a:t>
              </a: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17788744" y="9260236"/>
            <a:ext cx="297115" cy="61528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5092"/>
              </a:lnSpc>
              <a:spcBef>
                <a:spcPct val="0"/>
              </a:spcBef>
            </a:pPr>
            <a:r>
              <a:rPr lang="en-US" sz="363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65760"/>
            <a:ext cx="16459200" cy="1123801"/>
            <a:chOff x="0" y="0"/>
            <a:chExt cx="21945600" cy="14984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98402"/>
            </a:xfrm>
            <a:custGeom>
              <a:avLst/>
              <a:gdLst/>
              <a:ahLst/>
              <a:cxnLst/>
              <a:rect r="r" b="b" t="t" l="l"/>
              <a:pathLst>
                <a:path h="149840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8402"/>
                  </a:lnTo>
                  <a:lnTo>
                    <a:pt x="0" y="1498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557" r="0" b="-2341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161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b="true" sz="5599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 — DNS Threat Detector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2697" y="9954263"/>
            <a:ext cx="18313403" cy="345443"/>
            <a:chOff x="0" y="0"/>
            <a:chExt cx="24417871" cy="4605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426720"/>
            </a:xfrm>
            <a:custGeom>
              <a:avLst/>
              <a:gdLst/>
              <a:ahLst/>
              <a:cxnLst/>
              <a:rect r="r" b="b" t="t" l="l"/>
              <a:pathLst>
                <a:path h="42672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460504"/>
            </a:xfrm>
            <a:custGeom>
              <a:avLst/>
              <a:gdLst/>
              <a:ahLst/>
              <a:cxnLst/>
              <a:rect r="r" b="b" t="t" l="l"/>
              <a:pathLst>
                <a:path h="46050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443611"/>
                  </a:lnTo>
                  <a:cubicBezTo>
                    <a:pt x="24417782" y="453009"/>
                    <a:pt x="24410163" y="460502"/>
                    <a:pt x="24400890" y="460502"/>
                  </a:cubicBezTo>
                  <a:lnTo>
                    <a:pt x="16891" y="460502"/>
                  </a:lnTo>
                  <a:cubicBezTo>
                    <a:pt x="7620" y="460629"/>
                    <a:pt x="0" y="453009"/>
                    <a:pt x="0" y="443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3611"/>
                  </a:lnTo>
                  <a:lnTo>
                    <a:pt x="16891" y="443611"/>
                  </a:lnTo>
                  <a:lnTo>
                    <a:pt x="16891" y="426720"/>
                  </a:lnTo>
                  <a:lnTo>
                    <a:pt x="24400890" y="426720"/>
                  </a:lnTo>
                  <a:lnTo>
                    <a:pt x="24400890" y="443611"/>
                  </a:lnTo>
                  <a:lnTo>
                    <a:pt x="24384000" y="4436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77A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704320" y="1737360"/>
            <a:ext cx="6035040" cy="731520"/>
            <a:chOff x="0" y="0"/>
            <a:chExt cx="804672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46720" cy="975360"/>
            </a:xfrm>
            <a:custGeom>
              <a:avLst/>
              <a:gdLst/>
              <a:ahLst/>
              <a:cxnLst/>
              <a:rect r="r" b="b" t="t" l="l"/>
              <a:pathLst>
                <a:path h="9753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804672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 Features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91623" y="2639063"/>
            <a:ext cx="6060443" cy="1159259"/>
            <a:chOff x="0" y="0"/>
            <a:chExt cx="8080591" cy="15456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80467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80501" cy="1545590"/>
            </a:xfrm>
            <a:custGeom>
              <a:avLst/>
              <a:gdLst/>
              <a:ahLst/>
              <a:cxnLst/>
              <a:rect r="r" b="b" t="t" l="l"/>
              <a:pathLst>
                <a:path h="1545590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1528699"/>
                  </a:lnTo>
                  <a:cubicBezTo>
                    <a:pt x="8080501" y="1538097"/>
                    <a:pt x="8072882" y="1545590"/>
                    <a:pt x="806361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8063611" y="1511808"/>
                  </a:lnTo>
                  <a:lnTo>
                    <a:pt x="8063611" y="1528699"/>
                  </a:lnTo>
                  <a:lnTo>
                    <a:pt x="8046720" y="1528699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691623" y="2639063"/>
            <a:ext cx="116843" cy="1159259"/>
            <a:chOff x="0" y="0"/>
            <a:chExt cx="155791" cy="15456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21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70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528699"/>
                  </a:lnTo>
                  <a:cubicBezTo>
                    <a:pt x="155702" y="1538097"/>
                    <a:pt x="148082" y="1545590"/>
                    <a:pt x="13881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38811" y="1511808"/>
                  </a:lnTo>
                  <a:lnTo>
                    <a:pt x="138811" y="1528699"/>
                  </a:lnTo>
                  <a:lnTo>
                    <a:pt x="121920" y="1528699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923776" y="2724912"/>
            <a:ext cx="5669280" cy="438912"/>
            <a:chOff x="0" y="0"/>
            <a:chExt cx="7559040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59040" cy="585216"/>
            </a:xfrm>
            <a:custGeom>
              <a:avLst/>
              <a:gdLst/>
              <a:ahLst/>
              <a:cxnLst/>
              <a:rect r="r" b="b" t="t" l="l"/>
              <a:pathLst>
                <a:path h="5852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81" r="0" b="-20168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55904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Interactive Mode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23776" y="3200400"/>
            <a:ext cx="5669280" cy="512064"/>
            <a:chOff x="0" y="0"/>
            <a:chExt cx="755904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559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domain input with confidence scores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691623" y="3955799"/>
            <a:ext cx="6060443" cy="1159259"/>
            <a:chOff x="0" y="0"/>
            <a:chExt cx="8080591" cy="15456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80467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80501" cy="1545590"/>
            </a:xfrm>
            <a:custGeom>
              <a:avLst/>
              <a:gdLst/>
              <a:ahLst/>
              <a:cxnLst/>
              <a:rect r="r" b="b" t="t" l="l"/>
              <a:pathLst>
                <a:path h="1545590" w="8080501">
                  <a:moveTo>
                    <a:pt x="16891" y="0"/>
                  </a:moveTo>
                  <a:lnTo>
                    <a:pt x="8063611" y="0"/>
                  </a:lnTo>
                  <a:cubicBezTo>
                    <a:pt x="8073009" y="0"/>
                    <a:pt x="8080501" y="7620"/>
                    <a:pt x="8080501" y="16891"/>
                  </a:cubicBezTo>
                  <a:lnTo>
                    <a:pt x="8080501" y="1528699"/>
                  </a:lnTo>
                  <a:cubicBezTo>
                    <a:pt x="8080501" y="1538097"/>
                    <a:pt x="8072882" y="1545590"/>
                    <a:pt x="806361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8063611" y="1511808"/>
                  </a:lnTo>
                  <a:lnTo>
                    <a:pt x="8063611" y="1528699"/>
                  </a:lnTo>
                  <a:lnTo>
                    <a:pt x="8046720" y="1528699"/>
                  </a:lnTo>
                  <a:lnTo>
                    <a:pt x="8046720" y="16891"/>
                  </a:lnTo>
                  <a:lnTo>
                    <a:pt x="8063611" y="16891"/>
                  </a:lnTo>
                  <a:lnTo>
                    <a:pt x="8063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91623" y="3955799"/>
            <a:ext cx="116843" cy="1159259"/>
            <a:chOff x="0" y="0"/>
            <a:chExt cx="155791" cy="154567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219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570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55702">
                  <a:moveTo>
                    <a:pt x="16891" y="0"/>
                  </a:moveTo>
                  <a:lnTo>
                    <a:pt x="138811" y="0"/>
                  </a:lnTo>
                  <a:cubicBezTo>
                    <a:pt x="148209" y="0"/>
                    <a:pt x="155702" y="7620"/>
                    <a:pt x="155702" y="16891"/>
                  </a:cubicBezTo>
                  <a:lnTo>
                    <a:pt x="155702" y="1528699"/>
                  </a:lnTo>
                  <a:cubicBezTo>
                    <a:pt x="155702" y="1538097"/>
                    <a:pt x="148082" y="1545590"/>
                    <a:pt x="13881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38811" y="1511808"/>
                  </a:lnTo>
                  <a:lnTo>
                    <a:pt x="138811" y="1528699"/>
                  </a:lnTo>
                  <a:lnTo>
                    <a:pt x="121920" y="1528699"/>
                  </a:lnTo>
                  <a:lnTo>
                    <a:pt x="121920" y="16891"/>
                  </a:lnTo>
                  <a:lnTo>
                    <a:pt x="138811" y="16891"/>
                  </a:lnTo>
                  <a:lnTo>
                    <a:pt x="138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B4D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923776" y="4041648"/>
            <a:ext cx="5669280" cy="438912"/>
            <a:chOff x="0" y="0"/>
            <a:chExt cx="755904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59040" cy="585216"/>
            </a:xfrm>
            <a:custGeom>
              <a:avLst/>
              <a:gdLst/>
              <a:ahLst/>
              <a:cxnLst/>
              <a:rect r="r" b="b" t="t" l="l"/>
              <a:pathLst>
                <a:path h="585216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81" r="0" b="-20168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55904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Single Query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923776" y="4517136"/>
            <a:ext cx="5669280" cy="512064"/>
            <a:chOff x="0" y="0"/>
            <a:chExt cx="755904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59040" cy="682752"/>
            </a:xfrm>
            <a:custGeom>
              <a:avLst/>
              <a:gdLst/>
              <a:ahLst/>
              <a:cxnLst/>
              <a:rect r="r" b="b" t="t" l="l"/>
              <a:pathLst>
                <a:path h="68275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727" r="0" b="-16572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5590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A0F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./dga_classifier -q domain.com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362340" y="2470744"/>
            <a:ext cx="10607036" cy="5345513"/>
          </a:xfrm>
          <a:custGeom>
            <a:avLst/>
            <a:gdLst/>
            <a:ahLst/>
            <a:cxnLst/>
            <a:rect r="r" b="b" t="t" l="l"/>
            <a:pathLst>
              <a:path h="5345513" w="10607036">
                <a:moveTo>
                  <a:pt x="0" y="0"/>
                </a:moveTo>
                <a:lnTo>
                  <a:pt x="10607036" y="0"/>
                </a:lnTo>
                <a:lnTo>
                  <a:pt x="10607036" y="5345512"/>
                </a:lnTo>
                <a:lnTo>
                  <a:pt x="0" y="5345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859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7663768" y="9079834"/>
            <a:ext cx="200887" cy="545483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489"/>
              </a:lnSpc>
              <a:spcBef>
                <a:spcPct val="0"/>
              </a:spcBef>
            </a:pPr>
            <a:r>
              <a:rPr lang="en-US" sz="32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365760"/>
            <a:ext cx="16459200" cy="1371600"/>
            <a:chOff x="0" y="0"/>
            <a:chExt cx="2194560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0A0F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181863"/>
            <a:ext cx="135131" cy="1122683"/>
            <a:chOff x="0" y="0"/>
            <a:chExt cx="180175" cy="14969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463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086" cy="1496822"/>
            </a:xfrm>
            <a:custGeom>
              <a:avLst/>
              <a:gdLst/>
              <a:ahLst/>
              <a:cxnLst/>
              <a:rect r="r" b="b" t="t" l="l"/>
              <a:pathLst>
                <a:path h="1496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79931"/>
                  </a:lnTo>
                  <a:cubicBezTo>
                    <a:pt x="180086" y="1489329"/>
                    <a:pt x="172466" y="1496822"/>
                    <a:pt x="163195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63195" y="1463040"/>
                  </a:lnTo>
                  <a:lnTo>
                    <a:pt x="163195" y="1479931"/>
                  </a:lnTo>
                  <a:lnTo>
                    <a:pt x="146304" y="1479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6736" y="2194560"/>
            <a:ext cx="5486400" cy="548640"/>
            <a:chOff x="0" y="0"/>
            <a:chExt cx="73152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C++ LSTM from scratch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16736" y="2743200"/>
            <a:ext cx="16093440" cy="640080"/>
            <a:chOff x="0" y="0"/>
            <a:chExt cx="2145792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gates, activations, BPTT  and optimiser implemented manually — no ML library used.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3681479"/>
            <a:ext cx="135131" cy="1122683"/>
            <a:chOff x="0" y="0"/>
            <a:chExt cx="180175" cy="14969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463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086" cy="1496822"/>
            </a:xfrm>
            <a:custGeom>
              <a:avLst/>
              <a:gdLst/>
              <a:ahLst/>
              <a:cxnLst/>
              <a:rect r="r" b="b" t="t" l="l"/>
              <a:pathLst>
                <a:path h="1496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79931"/>
                  </a:lnTo>
                  <a:cubicBezTo>
                    <a:pt x="180086" y="1489329"/>
                    <a:pt x="172466" y="1496822"/>
                    <a:pt x="163195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63195" y="1463040"/>
                  </a:lnTo>
                  <a:lnTo>
                    <a:pt x="163195" y="1479931"/>
                  </a:lnTo>
                  <a:lnTo>
                    <a:pt x="146304" y="1479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16736" y="3694176"/>
            <a:ext cx="5486400" cy="548640"/>
            <a:chOff x="0" y="0"/>
            <a:chExt cx="7315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preprocessing pipeline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6736" y="4242816"/>
            <a:ext cx="16093440" cy="640080"/>
            <a:chOff x="0" y="0"/>
            <a:chExt cx="2145792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CSV loading, DNS cleaning, character encoding, label mapping — all in C++.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5181095"/>
            <a:ext cx="135131" cy="1122683"/>
            <a:chOff x="0" y="0"/>
            <a:chExt cx="180175" cy="1496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463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0086" cy="1496822"/>
            </a:xfrm>
            <a:custGeom>
              <a:avLst/>
              <a:gdLst/>
              <a:ahLst/>
              <a:cxnLst/>
              <a:rect r="r" b="b" t="t" l="l"/>
              <a:pathLst>
                <a:path h="1496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79931"/>
                  </a:lnTo>
                  <a:cubicBezTo>
                    <a:pt x="180086" y="1489329"/>
                    <a:pt x="172466" y="1496822"/>
                    <a:pt x="163195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63195" y="1463040"/>
                  </a:lnTo>
                  <a:lnTo>
                    <a:pt x="163195" y="1479931"/>
                  </a:lnTo>
                  <a:lnTo>
                    <a:pt x="146304" y="1479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16736" y="5193792"/>
            <a:ext cx="5486400" cy="548640"/>
            <a:chOff x="0" y="0"/>
            <a:chExt cx="731520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5-class DNS threat classification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6736" y="5742432"/>
            <a:ext cx="16093440" cy="640080"/>
            <a:chOff x="0" y="0"/>
            <a:chExt cx="2145792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Detects Benign, DGA, Phishing, DNS Tunneling, and C2 traffic.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1703" y="6680711"/>
            <a:ext cx="135131" cy="1122683"/>
            <a:chOff x="0" y="0"/>
            <a:chExt cx="180175" cy="14969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463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0086" cy="1496822"/>
            </a:xfrm>
            <a:custGeom>
              <a:avLst/>
              <a:gdLst/>
              <a:ahLst/>
              <a:cxnLst/>
              <a:rect r="r" b="b" t="t" l="l"/>
              <a:pathLst>
                <a:path h="1496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79931"/>
                  </a:lnTo>
                  <a:cubicBezTo>
                    <a:pt x="180086" y="1489329"/>
                    <a:pt x="172466" y="1496822"/>
                    <a:pt x="163195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63195" y="1463040"/>
                  </a:lnTo>
                  <a:lnTo>
                    <a:pt x="163195" y="1479931"/>
                  </a:lnTo>
                  <a:lnTo>
                    <a:pt x="146304" y="1479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16736" y="6693408"/>
            <a:ext cx="5486400" cy="548640"/>
            <a:chOff x="0" y="0"/>
            <a:chExt cx="73152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PyTorch benchmark comparison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16736" y="7242048"/>
            <a:ext cx="16093440" cy="640080"/>
            <a:chOff x="0" y="0"/>
            <a:chExt cx="2145792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Mirror architecture built in Python to validate C++ implementation results.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01703" y="8180327"/>
            <a:ext cx="135131" cy="1122683"/>
            <a:chOff x="0" y="0"/>
            <a:chExt cx="180175" cy="14969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46304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11111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0086" cy="1496822"/>
            </a:xfrm>
            <a:custGeom>
              <a:avLst/>
              <a:gdLst/>
              <a:ahLst/>
              <a:cxnLst/>
              <a:rect r="r" b="b" t="t" l="l"/>
              <a:pathLst>
                <a:path h="1496822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479931"/>
                  </a:lnTo>
                  <a:cubicBezTo>
                    <a:pt x="180086" y="1489329"/>
                    <a:pt x="172466" y="1496822"/>
                    <a:pt x="163195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63195" y="1463040"/>
                  </a:lnTo>
                  <a:lnTo>
                    <a:pt x="163195" y="1479931"/>
                  </a:lnTo>
                  <a:lnTo>
                    <a:pt x="146304" y="14799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111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16736" y="8193024"/>
            <a:ext cx="5486400" cy="548640"/>
            <a:chOff x="0" y="0"/>
            <a:chExt cx="731520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 tool deployment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16736" y="8741664"/>
            <a:ext cx="16093440" cy="640080"/>
            <a:chOff x="0" y="0"/>
            <a:chExt cx="2145792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14579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5555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Runnable classifier accepting domain strings from command line.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7787461" y="9407655"/>
            <a:ext cx="269582" cy="564931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25"/>
              </a:lnSpc>
              <a:spcBef>
                <a:spcPct val="0"/>
              </a:spcBef>
            </a:pPr>
            <a:r>
              <a:rPr lang="en-US" sz="33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29505" y="2362014"/>
            <a:ext cx="4050324" cy="125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8"/>
              </a:lnSpc>
              <a:spcBef>
                <a:spcPct val="0"/>
              </a:spcBef>
            </a:pPr>
            <a:r>
              <a:rPr lang="en-US" sz="726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Thank You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97241" y="4333162"/>
            <a:ext cx="10076635" cy="187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7"/>
              </a:lnSpc>
              <a:spcBef>
                <a:spcPct val="0"/>
              </a:spcBef>
            </a:pPr>
            <a:r>
              <a:rPr lang="en-US" sz="57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Repo: https://github.com/nafisa1602/SPL-1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DAHHlYqeIg8</dc:identifier>
  <dcterms:modified xsi:type="dcterms:W3CDTF">2011-08-01T06:04:30Z</dcterms:modified>
  <cp:revision>1</cp:revision>
  <dc:title>NafisaUsrat_51</dc:title>
</cp:coreProperties>
</file>